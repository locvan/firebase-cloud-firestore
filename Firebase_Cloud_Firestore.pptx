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Roboto Bold" charset="1" panose="02000000000000000000"/>
      <p:regular r:id="rId48"/>
    </p:embeddedFont>
    <p:embeddedFont>
      <p:font typeface="Roboto" charset="1" panose="020000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3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4.png" Type="http://schemas.openxmlformats.org/officeDocument/2006/relationships/image"/><Relationship Id="rId8" Target="../media/image4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8.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sv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54.png" Type="http://schemas.openxmlformats.org/officeDocument/2006/relationships/image"/><Relationship Id="rId14" Target="../media/image55.svg" Type="http://schemas.openxmlformats.org/officeDocument/2006/relationships/image"/><Relationship Id="rId15" Target="../media/image56.png" Type="http://schemas.openxmlformats.org/officeDocument/2006/relationships/image"/><Relationship Id="rId16" Target="../media/image57.svg" Type="http://schemas.openxmlformats.org/officeDocument/2006/relationships/image"/><Relationship Id="rId17" Target="../media/image58.png" Type="http://schemas.openxmlformats.org/officeDocument/2006/relationships/image"/><Relationship Id="rId18" Target="../media/image59.svg" Type="http://schemas.openxmlformats.org/officeDocument/2006/relationships/image"/><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428028" y="354688"/>
            <a:ext cx="15795020" cy="9635083"/>
            <a:chOff x="0" y="0"/>
            <a:chExt cx="5762066" cy="3514904"/>
          </a:xfrm>
        </p:grpSpPr>
        <p:sp>
          <p:nvSpPr>
            <p:cNvPr name="Freeform 4" id="4"/>
            <p:cNvSpPr/>
            <p:nvPr/>
          </p:nvSpPr>
          <p:spPr>
            <a:xfrm flipH="false" flipV="false" rot="0">
              <a:off x="0" y="0"/>
              <a:ext cx="5762066" cy="3514904"/>
            </a:xfrm>
            <a:custGeom>
              <a:avLst/>
              <a:gdLst/>
              <a:ahLst/>
              <a:cxnLst/>
              <a:rect r="r" b="b" t="t" l="l"/>
              <a:pathLst>
                <a:path h="3514904" w="5762066">
                  <a:moveTo>
                    <a:pt x="0" y="0"/>
                  </a:moveTo>
                  <a:lnTo>
                    <a:pt x="5762066" y="0"/>
                  </a:lnTo>
                  <a:lnTo>
                    <a:pt x="5762066" y="3514904"/>
                  </a:lnTo>
                  <a:lnTo>
                    <a:pt x="0" y="3514904"/>
                  </a:lnTo>
                  <a:close/>
                </a:path>
              </a:pathLst>
            </a:custGeom>
            <a:solidFill>
              <a:srgbClr val="FFFFFF"/>
            </a:solidFill>
          </p:spPr>
        </p:sp>
      </p:grpSp>
      <p:sp>
        <p:nvSpPr>
          <p:cNvPr name="TextBox 5" id="5"/>
          <p:cNvSpPr txBox="true"/>
          <p:nvPr/>
        </p:nvSpPr>
        <p:spPr>
          <a:xfrm rot="0">
            <a:off x="2909226" y="4510087"/>
            <a:ext cx="12288010" cy="914400"/>
          </a:xfrm>
          <a:prstGeom prst="rect">
            <a:avLst/>
          </a:prstGeom>
        </p:spPr>
        <p:txBody>
          <a:bodyPr anchor="t" rtlCol="false" tIns="0" lIns="0" bIns="0" rIns="0">
            <a:spAutoFit/>
          </a:bodyPr>
          <a:lstStyle/>
          <a:p>
            <a:pPr algn="l">
              <a:lnSpc>
                <a:spcPts val="7199"/>
              </a:lnSpc>
            </a:pPr>
            <a:r>
              <a:rPr lang="en-US" sz="5999" spc="-89" b="true">
                <a:solidFill>
                  <a:srgbClr val="003EA8"/>
                </a:solidFill>
                <a:latin typeface="Roboto Bold"/>
                <a:ea typeface="Roboto Bold"/>
                <a:cs typeface="Roboto Bold"/>
                <a:sym typeface="Roboto Bold"/>
              </a:rPr>
              <a:t>Chủ đề 14: Firebase Cloud Firestore</a:t>
            </a:r>
          </a:p>
        </p:txBody>
      </p:sp>
      <p:sp>
        <p:nvSpPr>
          <p:cNvPr name="TextBox 6" id="6"/>
          <p:cNvSpPr txBox="true"/>
          <p:nvPr/>
        </p:nvSpPr>
        <p:spPr>
          <a:xfrm rot="0">
            <a:off x="2486996" y="476250"/>
            <a:ext cx="13314009" cy="1038226"/>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Roboto Bold"/>
                <a:ea typeface="Roboto Bold"/>
                <a:cs typeface="Roboto Bold"/>
                <a:sym typeface="Roboto Bold"/>
              </a:rPr>
              <a:t>TRƯỜ</a:t>
            </a:r>
            <a:r>
              <a:rPr lang="en-US" b="true" sz="2999">
                <a:solidFill>
                  <a:srgbClr val="000000"/>
                </a:solidFill>
                <a:latin typeface="Roboto Bold"/>
                <a:ea typeface="Roboto Bold"/>
                <a:cs typeface="Roboto Bold"/>
                <a:sym typeface="Roboto Bold"/>
              </a:rPr>
              <a:t>NG ĐẠI HỌC BÁCH KHOA​ </a:t>
            </a:r>
          </a:p>
          <a:p>
            <a:pPr algn="ctr">
              <a:lnSpc>
                <a:spcPts val="4199"/>
              </a:lnSpc>
              <a:spcBef>
                <a:spcPct val="0"/>
              </a:spcBef>
            </a:pPr>
            <a:r>
              <a:rPr lang="en-US" b="true" sz="2999">
                <a:solidFill>
                  <a:srgbClr val="000000"/>
                </a:solidFill>
                <a:latin typeface="Roboto Bold"/>
                <a:ea typeface="Roboto Bold"/>
                <a:cs typeface="Roboto Bold"/>
                <a:sym typeface="Roboto Bold"/>
              </a:rPr>
              <a:t>KHOA ĐIỆN TỬ - VIỄN THÔNG</a:t>
            </a:r>
          </a:p>
        </p:txBody>
      </p:sp>
      <p:sp>
        <p:nvSpPr>
          <p:cNvPr name="Freeform 7" id="7"/>
          <p:cNvSpPr/>
          <p:nvPr/>
        </p:nvSpPr>
        <p:spPr>
          <a:xfrm flipH="false" flipV="false" rot="0">
            <a:off x="7569998" y="1822990"/>
            <a:ext cx="1483234" cy="1483234"/>
          </a:xfrm>
          <a:custGeom>
            <a:avLst/>
            <a:gdLst/>
            <a:ahLst/>
            <a:cxnLst/>
            <a:rect r="r" b="b" t="t" l="l"/>
            <a:pathLst>
              <a:path h="1483234" w="1483234">
                <a:moveTo>
                  <a:pt x="0" y="0"/>
                </a:moveTo>
                <a:lnTo>
                  <a:pt x="1483233" y="0"/>
                </a:lnTo>
                <a:lnTo>
                  <a:pt x="1483233" y="1483233"/>
                </a:lnTo>
                <a:lnTo>
                  <a:pt x="0" y="1483233"/>
                </a:lnTo>
                <a:lnTo>
                  <a:pt x="0" y="0"/>
                </a:lnTo>
                <a:close/>
              </a:path>
            </a:pathLst>
          </a:custGeom>
          <a:blipFill>
            <a:blip r:embed="rId3"/>
            <a:stretch>
              <a:fillRect l="0" t="0" r="0" b="0"/>
            </a:stretch>
          </a:blipFill>
        </p:spPr>
      </p:sp>
      <p:sp>
        <p:nvSpPr>
          <p:cNvPr name="Freeform 8" id="8"/>
          <p:cNvSpPr/>
          <p:nvPr/>
        </p:nvSpPr>
        <p:spPr>
          <a:xfrm flipH="false" flipV="false" rot="0">
            <a:off x="9325537" y="1822990"/>
            <a:ext cx="1515338" cy="1483234"/>
          </a:xfrm>
          <a:custGeom>
            <a:avLst/>
            <a:gdLst/>
            <a:ahLst/>
            <a:cxnLst/>
            <a:rect r="r" b="b" t="t" l="l"/>
            <a:pathLst>
              <a:path h="1483234" w="1515338">
                <a:moveTo>
                  <a:pt x="0" y="0"/>
                </a:moveTo>
                <a:lnTo>
                  <a:pt x="1515339" y="0"/>
                </a:lnTo>
                <a:lnTo>
                  <a:pt x="1515339" y="1483233"/>
                </a:lnTo>
                <a:lnTo>
                  <a:pt x="0" y="1483233"/>
                </a:lnTo>
                <a:lnTo>
                  <a:pt x="0" y="0"/>
                </a:lnTo>
                <a:close/>
              </a:path>
            </a:pathLst>
          </a:custGeom>
          <a:blipFill>
            <a:blip r:embed="rId4"/>
            <a:stretch>
              <a:fillRect l="0" t="0" r="0" b="0"/>
            </a:stretch>
          </a:blipFill>
        </p:spPr>
      </p:sp>
      <p:sp>
        <p:nvSpPr>
          <p:cNvPr name="TextBox 9" id="9"/>
          <p:cNvSpPr txBox="true"/>
          <p:nvPr/>
        </p:nvSpPr>
        <p:spPr>
          <a:xfrm rot="0">
            <a:off x="1028700" y="5595937"/>
            <a:ext cx="15795020" cy="5143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Roboto Bold"/>
                <a:ea typeface="Roboto Bold"/>
                <a:cs typeface="Roboto Bold"/>
                <a:sym typeface="Roboto Bold"/>
              </a:rPr>
              <a:t>Sinh viên thực hiện:</a:t>
            </a:r>
          </a:p>
        </p:txBody>
      </p:sp>
      <p:sp>
        <p:nvSpPr>
          <p:cNvPr name="TextBox 10" id="10"/>
          <p:cNvSpPr txBox="true"/>
          <p:nvPr/>
        </p:nvSpPr>
        <p:spPr>
          <a:xfrm rot="0">
            <a:off x="935430" y="6348413"/>
            <a:ext cx="15795020" cy="51435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Roboto"/>
                <a:ea typeface="Roboto"/>
                <a:cs typeface="Roboto"/>
                <a:sym typeface="Roboto"/>
              </a:rPr>
              <a:t>Văn Tiến Lộc-22KTMT2-106220257</a:t>
            </a:r>
          </a:p>
        </p:txBody>
      </p:sp>
      <p:sp>
        <p:nvSpPr>
          <p:cNvPr name="TextBox 11" id="11"/>
          <p:cNvSpPr txBox="true"/>
          <p:nvPr/>
        </p:nvSpPr>
        <p:spPr>
          <a:xfrm rot="0">
            <a:off x="935430" y="7026531"/>
            <a:ext cx="15795020" cy="51435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Roboto"/>
                <a:ea typeface="Roboto"/>
                <a:cs typeface="Roboto"/>
                <a:sym typeface="Roboto"/>
              </a:rPr>
              <a:t>Nguyễn Trung Thành-22KTMT2-106220270</a:t>
            </a:r>
          </a:p>
        </p:txBody>
      </p:sp>
      <p:sp>
        <p:nvSpPr>
          <p:cNvPr name="TextBox 12" id="12"/>
          <p:cNvSpPr txBox="true"/>
          <p:nvPr/>
        </p:nvSpPr>
        <p:spPr>
          <a:xfrm rot="0">
            <a:off x="1028700" y="7702807"/>
            <a:ext cx="15795020" cy="5143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Roboto Bold"/>
                <a:ea typeface="Roboto Bold"/>
                <a:cs typeface="Roboto Bold"/>
                <a:sym typeface="Roboto Bold"/>
              </a:rPr>
              <a:t>Giảng viên hướng dẫn:</a:t>
            </a:r>
          </a:p>
        </p:txBody>
      </p:sp>
      <p:sp>
        <p:nvSpPr>
          <p:cNvPr name="TextBox 13" id="13"/>
          <p:cNvSpPr txBox="true"/>
          <p:nvPr/>
        </p:nvSpPr>
        <p:spPr>
          <a:xfrm rot="0">
            <a:off x="935430" y="8457125"/>
            <a:ext cx="15795020" cy="51435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Roboto"/>
                <a:ea typeface="Roboto"/>
                <a:cs typeface="Roboto"/>
                <a:sym typeface="Roboto"/>
              </a:rPr>
              <a:t>TS. Nguyễn Duy Nhật Viễn</a:t>
            </a:r>
          </a:p>
        </p:txBody>
      </p:sp>
      <p:sp>
        <p:nvSpPr>
          <p:cNvPr name="TextBox 14" id="14"/>
          <p:cNvSpPr txBox="true"/>
          <p:nvPr/>
        </p:nvSpPr>
        <p:spPr>
          <a:xfrm rot="0">
            <a:off x="6127994" y="9359911"/>
            <a:ext cx="15795020"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Roboto Bold"/>
                <a:ea typeface="Roboto Bold"/>
                <a:cs typeface="Roboto Bold"/>
                <a:sym typeface="Roboto Bold"/>
              </a:rPr>
              <a:t>Đà Nẵng, Ngày 10 Tháng 11 Năm 2025</a:t>
            </a:r>
          </a:p>
        </p:txBody>
      </p:sp>
      <p:sp>
        <p:nvSpPr>
          <p:cNvPr name="TextBox 15" id="15"/>
          <p:cNvSpPr txBox="true"/>
          <p:nvPr/>
        </p:nvSpPr>
        <p:spPr>
          <a:xfrm rot="0">
            <a:off x="6358436" y="3605213"/>
            <a:ext cx="5571127" cy="914400"/>
          </a:xfrm>
          <a:prstGeom prst="rect">
            <a:avLst/>
          </a:prstGeom>
        </p:spPr>
        <p:txBody>
          <a:bodyPr anchor="t" rtlCol="false" tIns="0" lIns="0" bIns="0" rIns="0">
            <a:spAutoFit/>
          </a:bodyPr>
          <a:lstStyle/>
          <a:p>
            <a:pPr algn="l">
              <a:lnSpc>
                <a:spcPts val="7199"/>
              </a:lnSpc>
            </a:pPr>
            <a:r>
              <a:rPr lang="en-US" sz="5999" spc="-89" b="true">
                <a:solidFill>
                  <a:srgbClr val="003EA8"/>
                </a:solidFill>
                <a:latin typeface="Roboto Bold"/>
                <a:ea typeface="Roboto Bold"/>
                <a:cs typeface="Roboto Bold"/>
                <a:sym typeface="Roboto Bold"/>
              </a:rPr>
              <a:t>BÁO CÁO TUẦN</a:t>
            </a:r>
          </a:p>
        </p:txBody>
      </p:sp>
      <p:sp>
        <p:nvSpPr>
          <p:cNvPr name="Freeform 16" id="16"/>
          <p:cNvSpPr/>
          <p:nvPr/>
        </p:nvSpPr>
        <p:spPr>
          <a:xfrm flipH="false" flipV="false" rot="-278358">
            <a:off x="30544" y="109477"/>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7679110" y="9594861"/>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46490" y="3505947"/>
            <a:ext cx="15795020" cy="5656514"/>
            <a:chOff x="0" y="0"/>
            <a:chExt cx="5762066" cy="2063512"/>
          </a:xfrm>
        </p:grpSpPr>
        <p:sp>
          <p:nvSpPr>
            <p:cNvPr name="Freeform 4" id="4"/>
            <p:cNvSpPr/>
            <p:nvPr/>
          </p:nvSpPr>
          <p:spPr>
            <a:xfrm flipH="false" flipV="false" rot="0">
              <a:off x="0" y="0"/>
              <a:ext cx="5762066" cy="2063511"/>
            </a:xfrm>
            <a:custGeom>
              <a:avLst/>
              <a:gdLst/>
              <a:ahLst/>
              <a:cxnLst/>
              <a:rect r="r" b="b" t="t" l="l"/>
              <a:pathLst>
                <a:path h="2063511" w="5762066">
                  <a:moveTo>
                    <a:pt x="0" y="0"/>
                  </a:moveTo>
                  <a:lnTo>
                    <a:pt x="5762066" y="0"/>
                  </a:lnTo>
                  <a:lnTo>
                    <a:pt x="5762066" y="2063511"/>
                  </a:lnTo>
                  <a:lnTo>
                    <a:pt x="0" y="2063511"/>
                  </a:lnTo>
                  <a:close/>
                </a:path>
              </a:pathLst>
            </a:custGeom>
            <a:solidFill>
              <a:srgbClr val="FFFFFF"/>
            </a:solidFill>
          </p:spPr>
        </p:sp>
      </p:grpSp>
      <p:sp>
        <p:nvSpPr>
          <p:cNvPr name="Freeform 5" id="5"/>
          <p:cNvSpPr/>
          <p:nvPr/>
        </p:nvSpPr>
        <p:spPr>
          <a:xfrm flipH="false" flipV="false" rot="-278358">
            <a:off x="12445117" y="8335327"/>
            <a:ext cx="5868613" cy="1845945"/>
          </a:xfrm>
          <a:custGeom>
            <a:avLst/>
            <a:gdLst/>
            <a:ahLst/>
            <a:cxnLst/>
            <a:rect r="r" b="b" t="t" l="l"/>
            <a:pathLst>
              <a:path h="1845945" w="5868613">
                <a:moveTo>
                  <a:pt x="0" y="0"/>
                </a:moveTo>
                <a:lnTo>
                  <a:pt x="5868613" y="0"/>
                </a:lnTo>
                <a:lnTo>
                  <a:pt x="5868613" y="1845946"/>
                </a:lnTo>
                <a:lnTo>
                  <a:pt x="0" y="18459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265909" y="650810"/>
            <a:ext cx="17718782" cy="1907038"/>
            <a:chOff x="0" y="0"/>
            <a:chExt cx="6463860" cy="695693"/>
          </a:xfrm>
        </p:grpSpPr>
        <p:sp>
          <p:nvSpPr>
            <p:cNvPr name="Freeform 7" id="7"/>
            <p:cNvSpPr/>
            <p:nvPr/>
          </p:nvSpPr>
          <p:spPr>
            <a:xfrm flipH="false" flipV="false" rot="0">
              <a:off x="0" y="0"/>
              <a:ext cx="6463860" cy="695693"/>
            </a:xfrm>
            <a:custGeom>
              <a:avLst/>
              <a:gdLst/>
              <a:ahLst/>
              <a:cxnLst/>
              <a:rect r="r" b="b" t="t" l="l"/>
              <a:pathLst>
                <a:path h="695693" w="6463860">
                  <a:moveTo>
                    <a:pt x="0" y="0"/>
                  </a:moveTo>
                  <a:lnTo>
                    <a:pt x="6463860" y="0"/>
                  </a:lnTo>
                  <a:lnTo>
                    <a:pt x="6463860" y="695693"/>
                  </a:lnTo>
                  <a:lnTo>
                    <a:pt x="0" y="695693"/>
                  </a:lnTo>
                  <a:close/>
                </a:path>
              </a:pathLst>
            </a:custGeom>
            <a:solidFill>
              <a:srgbClr val="FFFFFF"/>
            </a:solidFill>
          </p:spPr>
        </p:sp>
      </p:grpSp>
      <p:graphicFrame>
        <p:nvGraphicFramePr>
          <p:cNvPr name="Table 8" id="8"/>
          <p:cNvGraphicFramePr>
            <a:graphicFrameLocks noGrp="true"/>
          </p:cNvGraphicFramePr>
          <p:nvPr/>
        </p:nvGraphicFramePr>
        <p:xfrm>
          <a:off x="2104187" y="4315947"/>
          <a:ext cx="14079626" cy="3311477"/>
        </p:xfrm>
        <a:graphic>
          <a:graphicData uri="http://schemas.openxmlformats.org/drawingml/2006/table">
            <a:tbl>
              <a:tblPr/>
              <a:tblGrid>
                <a:gridCol w="3494123"/>
                <a:gridCol w="7202644"/>
                <a:gridCol w="3382859"/>
              </a:tblGrid>
              <a:tr h="883240">
                <a:tc>
                  <a:txBody>
                    <a:bodyPr anchor="t" rtlCol="false"/>
                    <a:lstStyle/>
                    <a:p>
                      <a:pPr algn="ctr">
                        <a:lnSpc>
                          <a:spcPts val="2974"/>
                        </a:lnSpc>
                        <a:defRPr/>
                      </a:pPr>
                      <a:r>
                        <a:rPr lang="en-US" sz="2124" b="true">
                          <a:solidFill>
                            <a:srgbClr val="000000"/>
                          </a:solidFill>
                          <a:latin typeface="Roboto Bold"/>
                          <a:ea typeface="Roboto Bold"/>
                          <a:cs typeface="Roboto Bold"/>
                          <a:sym typeface="Roboto Bold"/>
                        </a:rPr>
                        <a:t>Sinh viên thực hiện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74"/>
                        </a:lnSpc>
                        <a:defRPr/>
                      </a:pPr>
                      <a:r>
                        <a:rPr lang="en-US" sz="2124" b="true">
                          <a:solidFill>
                            <a:srgbClr val="000000"/>
                          </a:solidFill>
                          <a:latin typeface="Roboto Bold"/>
                          <a:ea typeface="Roboto Bold"/>
                          <a:cs typeface="Roboto Bold"/>
                          <a:sym typeface="Roboto Bold"/>
                        </a:rPr>
                        <a:t>Nội dung công việc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74"/>
                        </a:lnSpc>
                        <a:defRPr/>
                      </a:pPr>
                      <a:r>
                        <a:rPr lang="en-US" sz="2124" b="true">
                          <a:solidFill>
                            <a:srgbClr val="000000"/>
                          </a:solidFill>
                          <a:latin typeface="Roboto Bold"/>
                          <a:ea typeface="Roboto Bold"/>
                          <a:cs typeface="Roboto Bold"/>
                          <a:sym typeface="Roboto Bold"/>
                        </a:rPr>
                        <a:t>Phần trăm công việc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14119">
                <a:tc>
                  <a:txBody>
                    <a:bodyPr anchor="t" rtlCol="false"/>
                    <a:lstStyle/>
                    <a:p>
                      <a:pPr algn="ctr">
                        <a:lnSpc>
                          <a:spcPts val="2974"/>
                        </a:lnSpc>
                        <a:defRPr/>
                      </a:pPr>
                      <a:r>
                        <a:rPr lang="en-US" sz="2124">
                          <a:solidFill>
                            <a:srgbClr val="000000"/>
                          </a:solidFill>
                          <a:latin typeface="Roboto"/>
                          <a:ea typeface="Roboto"/>
                          <a:cs typeface="Roboto"/>
                          <a:sym typeface="Roboto"/>
                        </a:rPr>
                        <a:t>Văn Tiến Lộc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74"/>
                        </a:lnSpc>
                        <a:defRPr/>
                      </a:pPr>
                      <a:r>
                        <a:rPr lang="en-US" sz="2124">
                          <a:solidFill>
                            <a:srgbClr val="000000"/>
                          </a:solidFill>
                          <a:latin typeface="Roboto"/>
                          <a:ea typeface="Roboto"/>
                          <a:cs typeface="Roboto"/>
                          <a:sym typeface="Roboto"/>
                        </a:rPr>
                        <a:t>Làm phần setup Firestore và authentication, complex queries với where, orderBy, limit.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74"/>
                        </a:lnSpc>
                        <a:defRPr/>
                      </a:pPr>
                      <a:r>
                        <a:rPr lang="en-US" sz="2124">
                          <a:solidFill>
                            <a:srgbClr val="000000"/>
                          </a:solidFill>
                          <a:latin typeface="Roboto"/>
                          <a:ea typeface="Roboto"/>
                          <a:cs typeface="Roboto"/>
                          <a:sym typeface="Roboto"/>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14119">
                <a:tc>
                  <a:txBody>
                    <a:bodyPr anchor="t" rtlCol="false"/>
                    <a:lstStyle/>
                    <a:p>
                      <a:pPr algn="ctr">
                        <a:lnSpc>
                          <a:spcPts val="2974"/>
                        </a:lnSpc>
                        <a:defRPr/>
                      </a:pPr>
                      <a:r>
                        <a:rPr lang="en-US" sz="2124">
                          <a:solidFill>
                            <a:srgbClr val="000000"/>
                          </a:solidFill>
                          <a:latin typeface="Roboto"/>
                          <a:ea typeface="Roboto"/>
                          <a:cs typeface="Roboto"/>
                          <a:sym typeface="Roboto"/>
                        </a:rPr>
                        <a:t>Nguyễn Trung Thành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74"/>
                        </a:lnSpc>
                        <a:defRPr/>
                      </a:pPr>
                      <a:r>
                        <a:rPr lang="en-US" sz="2124">
                          <a:solidFill>
                            <a:srgbClr val="000000"/>
                          </a:solidFill>
                          <a:latin typeface="Roboto"/>
                          <a:ea typeface="Roboto"/>
                          <a:cs typeface="Roboto"/>
                          <a:sym typeface="Roboto"/>
                        </a:rPr>
                        <a:t>Làm phần real-time listeners và offline support, pagination và data modeling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74"/>
                        </a:lnSpc>
                        <a:defRPr/>
                      </a:pPr>
                      <a:r>
                        <a:rPr lang="en-US" sz="2124">
                          <a:solidFill>
                            <a:srgbClr val="000000"/>
                          </a:solidFill>
                          <a:latin typeface="Roboto"/>
                          <a:ea typeface="Roboto"/>
                          <a:cs typeface="Roboto"/>
                          <a:sym typeface="Roboto"/>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3724142" y="748981"/>
            <a:ext cx="10839717" cy="1228725"/>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003EA8"/>
                </a:solidFill>
                <a:latin typeface="Roboto Bold"/>
                <a:ea typeface="Roboto Bold"/>
                <a:cs typeface="Roboto Bold"/>
                <a:sym typeface="Roboto Bold"/>
              </a:rPr>
              <a:t>Phân chia công việc</a:t>
            </a:r>
          </a:p>
        </p:txBody>
      </p:sp>
      <p:sp>
        <p:nvSpPr>
          <p:cNvPr name="Freeform 10" id="10"/>
          <p:cNvSpPr/>
          <p:nvPr/>
        </p:nvSpPr>
        <p:spPr>
          <a:xfrm flipH="false" flipV="false" rot="0">
            <a:off x="265909" y="9258300"/>
            <a:ext cx="573798" cy="822649"/>
          </a:xfrm>
          <a:custGeom>
            <a:avLst/>
            <a:gdLst/>
            <a:ahLst/>
            <a:cxnLst/>
            <a:rect r="r" b="b" t="t" l="l"/>
            <a:pathLst>
              <a:path h="822649" w="573798">
                <a:moveTo>
                  <a:pt x="0" y="0"/>
                </a:moveTo>
                <a:lnTo>
                  <a:pt x="573798" y="0"/>
                </a:lnTo>
                <a:lnTo>
                  <a:pt x="573798" y="822649"/>
                </a:lnTo>
                <a:lnTo>
                  <a:pt x="0" y="8226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278358">
            <a:off x="-131522" y="110037"/>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836849" y="316570"/>
            <a:ext cx="9009410" cy="1792738"/>
            <a:chOff x="0" y="0"/>
            <a:chExt cx="3286657" cy="653996"/>
          </a:xfrm>
        </p:grpSpPr>
        <p:sp>
          <p:nvSpPr>
            <p:cNvPr name="Freeform 4" id="4"/>
            <p:cNvSpPr/>
            <p:nvPr/>
          </p:nvSpPr>
          <p:spPr>
            <a:xfrm flipH="false" flipV="false" rot="0">
              <a:off x="0" y="0"/>
              <a:ext cx="3286657" cy="653996"/>
            </a:xfrm>
            <a:custGeom>
              <a:avLst/>
              <a:gdLst/>
              <a:ahLst/>
              <a:cxnLst/>
              <a:rect r="r" b="b" t="t" l="l"/>
              <a:pathLst>
                <a:path h="653996" w="3286657">
                  <a:moveTo>
                    <a:pt x="0" y="0"/>
                  </a:moveTo>
                  <a:lnTo>
                    <a:pt x="3286657" y="0"/>
                  </a:lnTo>
                  <a:lnTo>
                    <a:pt x="3286657" y="653996"/>
                  </a:lnTo>
                  <a:lnTo>
                    <a:pt x="0" y="653996"/>
                  </a:lnTo>
                  <a:close/>
                </a:path>
              </a:pathLst>
            </a:custGeom>
            <a:solidFill>
              <a:srgbClr val="FFFFFF"/>
            </a:solidFill>
          </p:spPr>
        </p:sp>
      </p:grpSp>
      <p:grpSp>
        <p:nvGrpSpPr>
          <p:cNvPr name="Group 5" id="5"/>
          <p:cNvGrpSpPr/>
          <p:nvPr/>
        </p:nvGrpSpPr>
        <p:grpSpPr>
          <a:xfrm rot="0">
            <a:off x="646634" y="2367574"/>
            <a:ext cx="9009410" cy="7663680"/>
            <a:chOff x="0" y="0"/>
            <a:chExt cx="3286657" cy="2795731"/>
          </a:xfrm>
        </p:grpSpPr>
        <p:sp>
          <p:nvSpPr>
            <p:cNvPr name="Freeform 6" id="6"/>
            <p:cNvSpPr/>
            <p:nvPr/>
          </p:nvSpPr>
          <p:spPr>
            <a:xfrm flipH="false" flipV="false" rot="0">
              <a:off x="0" y="0"/>
              <a:ext cx="3286657" cy="2795731"/>
            </a:xfrm>
            <a:custGeom>
              <a:avLst/>
              <a:gdLst/>
              <a:ahLst/>
              <a:cxnLst/>
              <a:rect r="r" b="b" t="t" l="l"/>
              <a:pathLst>
                <a:path h="2795731" w="3286657">
                  <a:moveTo>
                    <a:pt x="0" y="0"/>
                  </a:moveTo>
                  <a:lnTo>
                    <a:pt x="3286657" y="0"/>
                  </a:lnTo>
                  <a:lnTo>
                    <a:pt x="3286657" y="2795731"/>
                  </a:lnTo>
                  <a:lnTo>
                    <a:pt x="0" y="2795731"/>
                  </a:lnTo>
                  <a:close/>
                </a:path>
              </a:pathLst>
            </a:custGeom>
            <a:solidFill>
              <a:srgbClr val="FFFFFF"/>
            </a:solidFill>
          </p:spPr>
        </p:sp>
      </p:grpSp>
      <p:sp>
        <p:nvSpPr>
          <p:cNvPr name="Freeform 7" id="7"/>
          <p:cNvSpPr/>
          <p:nvPr/>
        </p:nvSpPr>
        <p:spPr>
          <a:xfrm flipH="false" flipV="false" rot="0">
            <a:off x="13411443" y="0"/>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2940528" y="8558039"/>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836849" y="3143278"/>
            <a:ext cx="8626237" cy="851354"/>
            <a:chOff x="0" y="0"/>
            <a:chExt cx="2887704" cy="284998"/>
          </a:xfrm>
        </p:grpSpPr>
        <p:sp>
          <p:nvSpPr>
            <p:cNvPr name="Freeform 11" id="11"/>
            <p:cNvSpPr/>
            <p:nvPr/>
          </p:nvSpPr>
          <p:spPr>
            <a:xfrm flipH="false" flipV="false" rot="0">
              <a:off x="0" y="0"/>
              <a:ext cx="2887704" cy="284998"/>
            </a:xfrm>
            <a:custGeom>
              <a:avLst/>
              <a:gdLst/>
              <a:ahLst/>
              <a:cxnLst/>
              <a:rect r="r" b="b" t="t" l="l"/>
              <a:pathLst>
                <a:path h="284998" w="2887704">
                  <a:moveTo>
                    <a:pt x="13462" y="0"/>
                  </a:moveTo>
                  <a:lnTo>
                    <a:pt x="2874241" y="0"/>
                  </a:lnTo>
                  <a:cubicBezTo>
                    <a:pt x="2881676" y="0"/>
                    <a:pt x="2887704" y="6027"/>
                    <a:pt x="2887704" y="13462"/>
                  </a:cubicBezTo>
                  <a:lnTo>
                    <a:pt x="2887704" y="271535"/>
                  </a:lnTo>
                  <a:cubicBezTo>
                    <a:pt x="2887704" y="278970"/>
                    <a:pt x="2881676" y="284998"/>
                    <a:pt x="2874241" y="284998"/>
                  </a:cubicBezTo>
                  <a:lnTo>
                    <a:pt x="13462" y="284998"/>
                  </a:lnTo>
                  <a:cubicBezTo>
                    <a:pt x="6027" y="284998"/>
                    <a:pt x="0" y="278970"/>
                    <a:pt x="0" y="271535"/>
                  </a:cubicBezTo>
                  <a:lnTo>
                    <a:pt x="0" y="13462"/>
                  </a:lnTo>
                  <a:cubicBezTo>
                    <a:pt x="0" y="6027"/>
                    <a:pt x="6027" y="0"/>
                    <a:pt x="13462" y="0"/>
                  </a:cubicBezTo>
                  <a:close/>
                </a:path>
              </a:pathLst>
            </a:custGeom>
            <a:solidFill>
              <a:srgbClr val="003EA8"/>
            </a:solidFill>
          </p:spPr>
        </p:sp>
        <p:sp>
          <p:nvSpPr>
            <p:cNvPr name="TextBox 12" id="12"/>
            <p:cNvSpPr txBox="true"/>
            <p:nvPr/>
          </p:nvSpPr>
          <p:spPr>
            <a:xfrm>
              <a:off x="0" y="161925"/>
              <a:ext cx="2887704" cy="123073"/>
            </a:xfrm>
            <a:prstGeom prst="rect">
              <a:avLst/>
            </a:prstGeom>
          </p:spPr>
          <p:txBody>
            <a:bodyPr anchor="ctr" rtlCol="false" tIns="50800" lIns="50800" bIns="50800" rIns="50800"/>
            <a:lstStyle/>
            <a:p>
              <a:pPr algn="ctr">
                <a:lnSpc>
                  <a:spcPts val="3079"/>
                </a:lnSpc>
              </a:pPr>
              <a:r>
                <a:rPr lang="en-US" b="true" sz="3999" spc="-327">
                  <a:solidFill>
                    <a:srgbClr val="FFFFFF"/>
                  </a:solidFill>
                  <a:latin typeface="Roboto Bold"/>
                  <a:ea typeface="Roboto Bold"/>
                  <a:cs typeface="Roboto Bold"/>
                  <a:sym typeface="Roboto Bold"/>
                </a:rPr>
                <a:t> Giới thiệu về firebase</a:t>
              </a:r>
            </a:p>
          </p:txBody>
        </p:sp>
      </p:grpSp>
      <p:grpSp>
        <p:nvGrpSpPr>
          <p:cNvPr name="Group 13" id="13"/>
          <p:cNvGrpSpPr/>
          <p:nvPr/>
        </p:nvGrpSpPr>
        <p:grpSpPr>
          <a:xfrm rot="0">
            <a:off x="836849" y="4292144"/>
            <a:ext cx="8626237" cy="851356"/>
            <a:chOff x="0" y="0"/>
            <a:chExt cx="2887704" cy="284998"/>
          </a:xfrm>
        </p:grpSpPr>
        <p:sp>
          <p:nvSpPr>
            <p:cNvPr name="Freeform 14" id="14"/>
            <p:cNvSpPr/>
            <p:nvPr/>
          </p:nvSpPr>
          <p:spPr>
            <a:xfrm flipH="false" flipV="false" rot="0">
              <a:off x="0" y="0"/>
              <a:ext cx="2887704" cy="284998"/>
            </a:xfrm>
            <a:custGeom>
              <a:avLst/>
              <a:gdLst/>
              <a:ahLst/>
              <a:cxnLst/>
              <a:rect r="r" b="b" t="t" l="l"/>
              <a:pathLst>
                <a:path h="284998" w="2887704">
                  <a:moveTo>
                    <a:pt x="13462" y="0"/>
                  </a:moveTo>
                  <a:lnTo>
                    <a:pt x="2874241" y="0"/>
                  </a:lnTo>
                  <a:cubicBezTo>
                    <a:pt x="2881676" y="0"/>
                    <a:pt x="2887704" y="6027"/>
                    <a:pt x="2887704" y="13462"/>
                  </a:cubicBezTo>
                  <a:lnTo>
                    <a:pt x="2887704" y="271536"/>
                  </a:lnTo>
                  <a:cubicBezTo>
                    <a:pt x="2887704" y="278971"/>
                    <a:pt x="2881676" y="284998"/>
                    <a:pt x="2874241" y="284998"/>
                  </a:cubicBezTo>
                  <a:lnTo>
                    <a:pt x="13462" y="284998"/>
                  </a:lnTo>
                  <a:cubicBezTo>
                    <a:pt x="6027" y="284998"/>
                    <a:pt x="0" y="278971"/>
                    <a:pt x="0" y="271536"/>
                  </a:cubicBezTo>
                  <a:lnTo>
                    <a:pt x="0" y="13462"/>
                  </a:lnTo>
                  <a:cubicBezTo>
                    <a:pt x="0" y="6027"/>
                    <a:pt x="6027" y="0"/>
                    <a:pt x="13462" y="0"/>
                  </a:cubicBezTo>
                  <a:close/>
                </a:path>
              </a:pathLst>
            </a:custGeom>
            <a:solidFill>
              <a:srgbClr val="003EA8"/>
            </a:solidFill>
          </p:spPr>
        </p:sp>
        <p:sp>
          <p:nvSpPr>
            <p:cNvPr name="TextBox 15" id="15"/>
            <p:cNvSpPr txBox="true"/>
            <p:nvPr/>
          </p:nvSpPr>
          <p:spPr>
            <a:xfrm>
              <a:off x="0" y="161925"/>
              <a:ext cx="2887704" cy="123073"/>
            </a:xfrm>
            <a:prstGeom prst="rect">
              <a:avLst/>
            </a:prstGeom>
          </p:spPr>
          <p:txBody>
            <a:bodyPr anchor="ctr" rtlCol="false" tIns="50800" lIns="50800" bIns="50800" rIns="50800"/>
            <a:lstStyle/>
            <a:p>
              <a:pPr algn="ctr">
                <a:lnSpc>
                  <a:spcPts val="3079"/>
                </a:lnSpc>
              </a:pPr>
              <a:r>
                <a:rPr lang="en-US" b="true" sz="3999" spc="-327">
                  <a:solidFill>
                    <a:srgbClr val="FFFFFF"/>
                  </a:solidFill>
                  <a:latin typeface="Roboto Bold"/>
                  <a:ea typeface="Roboto Bold"/>
                  <a:cs typeface="Roboto Bold"/>
                  <a:sym typeface="Roboto Bold"/>
                </a:rPr>
                <a:t>Cài đặt cơ bản và xác thực</a:t>
              </a:r>
            </a:p>
          </p:txBody>
        </p:sp>
      </p:grpSp>
      <p:grpSp>
        <p:nvGrpSpPr>
          <p:cNvPr name="Group 16" id="16"/>
          <p:cNvGrpSpPr/>
          <p:nvPr/>
        </p:nvGrpSpPr>
        <p:grpSpPr>
          <a:xfrm rot="0">
            <a:off x="836849" y="5424258"/>
            <a:ext cx="8626237" cy="813075"/>
            <a:chOff x="0" y="0"/>
            <a:chExt cx="2887704" cy="272184"/>
          </a:xfrm>
        </p:grpSpPr>
        <p:sp>
          <p:nvSpPr>
            <p:cNvPr name="Freeform 17" id="17"/>
            <p:cNvSpPr/>
            <p:nvPr/>
          </p:nvSpPr>
          <p:spPr>
            <a:xfrm flipH="false" flipV="false" rot="0">
              <a:off x="0" y="0"/>
              <a:ext cx="2887704" cy="272184"/>
            </a:xfrm>
            <a:custGeom>
              <a:avLst/>
              <a:gdLst/>
              <a:ahLst/>
              <a:cxnLst/>
              <a:rect r="r" b="b" t="t" l="l"/>
              <a:pathLst>
                <a:path h="272184" w="2887704">
                  <a:moveTo>
                    <a:pt x="13462" y="0"/>
                  </a:moveTo>
                  <a:lnTo>
                    <a:pt x="2874241" y="0"/>
                  </a:lnTo>
                  <a:cubicBezTo>
                    <a:pt x="2881676" y="0"/>
                    <a:pt x="2887704" y="6027"/>
                    <a:pt x="2887704" y="13462"/>
                  </a:cubicBezTo>
                  <a:lnTo>
                    <a:pt x="2887704" y="258721"/>
                  </a:lnTo>
                  <a:cubicBezTo>
                    <a:pt x="2887704" y="266156"/>
                    <a:pt x="2881676" y="272184"/>
                    <a:pt x="2874241" y="272184"/>
                  </a:cubicBezTo>
                  <a:lnTo>
                    <a:pt x="13462" y="272184"/>
                  </a:lnTo>
                  <a:cubicBezTo>
                    <a:pt x="6027" y="272184"/>
                    <a:pt x="0" y="266156"/>
                    <a:pt x="0" y="258721"/>
                  </a:cubicBezTo>
                  <a:lnTo>
                    <a:pt x="0" y="13462"/>
                  </a:lnTo>
                  <a:cubicBezTo>
                    <a:pt x="0" y="6027"/>
                    <a:pt x="6027" y="0"/>
                    <a:pt x="13462" y="0"/>
                  </a:cubicBezTo>
                  <a:close/>
                </a:path>
              </a:pathLst>
            </a:custGeom>
            <a:solidFill>
              <a:srgbClr val="003EA8"/>
            </a:solidFill>
          </p:spPr>
        </p:sp>
        <p:sp>
          <p:nvSpPr>
            <p:cNvPr name="TextBox 18" id="18"/>
            <p:cNvSpPr txBox="true"/>
            <p:nvPr/>
          </p:nvSpPr>
          <p:spPr>
            <a:xfrm>
              <a:off x="0" y="152400"/>
              <a:ext cx="2887704" cy="119784"/>
            </a:xfrm>
            <a:prstGeom prst="rect">
              <a:avLst/>
            </a:prstGeom>
          </p:spPr>
          <p:txBody>
            <a:bodyPr anchor="ctr" rtlCol="false" tIns="50800" lIns="50800" bIns="50800" rIns="50800"/>
            <a:lstStyle/>
            <a:p>
              <a:pPr algn="ctr">
                <a:lnSpc>
                  <a:spcPts val="2926"/>
                </a:lnSpc>
              </a:pPr>
              <a:r>
                <a:rPr lang="en-US" b="true" sz="3800" spc="-311">
                  <a:solidFill>
                    <a:srgbClr val="FFFFFF"/>
                  </a:solidFill>
                  <a:latin typeface="Roboto Bold"/>
                  <a:ea typeface="Roboto Bold"/>
                  <a:cs typeface="Roboto Bold"/>
                  <a:sym typeface="Roboto Bold"/>
                </a:rPr>
                <a:t>Truy vấn phức tạp với Where, Oderby và limit</a:t>
              </a:r>
            </a:p>
          </p:txBody>
        </p:sp>
      </p:grpSp>
      <p:grpSp>
        <p:nvGrpSpPr>
          <p:cNvPr name="Group 19" id="19"/>
          <p:cNvGrpSpPr/>
          <p:nvPr/>
        </p:nvGrpSpPr>
        <p:grpSpPr>
          <a:xfrm rot="0">
            <a:off x="10737240" y="2250088"/>
            <a:ext cx="5932064" cy="5399482"/>
            <a:chOff x="0" y="0"/>
            <a:chExt cx="2164033" cy="1969746"/>
          </a:xfrm>
        </p:grpSpPr>
        <p:sp>
          <p:nvSpPr>
            <p:cNvPr name="Freeform 20" id="20"/>
            <p:cNvSpPr/>
            <p:nvPr/>
          </p:nvSpPr>
          <p:spPr>
            <a:xfrm flipH="false" flipV="false" rot="0">
              <a:off x="0" y="0"/>
              <a:ext cx="2164033" cy="1969746"/>
            </a:xfrm>
            <a:custGeom>
              <a:avLst/>
              <a:gdLst/>
              <a:ahLst/>
              <a:cxnLst/>
              <a:rect r="r" b="b" t="t" l="l"/>
              <a:pathLst>
                <a:path h="1969746" w="2164033">
                  <a:moveTo>
                    <a:pt x="0" y="0"/>
                  </a:moveTo>
                  <a:lnTo>
                    <a:pt x="2164033" y="0"/>
                  </a:lnTo>
                  <a:lnTo>
                    <a:pt x="2164033" y="1969746"/>
                  </a:lnTo>
                  <a:lnTo>
                    <a:pt x="0" y="1969746"/>
                  </a:lnTo>
                  <a:close/>
                </a:path>
              </a:pathLst>
            </a:custGeom>
            <a:solidFill>
              <a:srgbClr val="FFFFFF"/>
            </a:solidFill>
          </p:spPr>
        </p:sp>
      </p:grpSp>
      <p:sp>
        <p:nvSpPr>
          <p:cNvPr name="Freeform 21" id="21"/>
          <p:cNvSpPr/>
          <p:nvPr/>
        </p:nvSpPr>
        <p:spPr>
          <a:xfrm flipH="false" flipV="false" rot="0">
            <a:off x="11254372" y="2367574"/>
            <a:ext cx="5304809" cy="4997130"/>
          </a:xfrm>
          <a:custGeom>
            <a:avLst/>
            <a:gdLst/>
            <a:ahLst/>
            <a:cxnLst/>
            <a:rect r="r" b="b" t="t" l="l"/>
            <a:pathLst>
              <a:path h="4997130" w="5304809">
                <a:moveTo>
                  <a:pt x="0" y="0"/>
                </a:moveTo>
                <a:lnTo>
                  <a:pt x="5304809" y="0"/>
                </a:lnTo>
                <a:lnTo>
                  <a:pt x="5304809" y="4997131"/>
                </a:lnTo>
                <a:lnTo>
                  <a:pt x="0" y="49971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2248733" y="508089"/>
            <a:ext cx="6185640" cy="1390650"/>
          </a:xfrm>
          <a:prstGeom prst="rect">
            <a:avLst/>
          </a:prstGeom>
        </p:spPr>
        <p:txBody>
          <a:bodyPr anchor="t" rtlCol="false" tIns="0" lIns="0" bIns="0" rIns="0">
            <a:spAutoFit/>
          </a:bodyPr>
          <a:lstStyle/>
          <a:p>
            <a:pPr algn="l" marL="0" indent="0" lvl="0">
              <a:lnSpc>
                <a:spcPts val="10800"/>
              </a:lnSpc>
              <a:spcBef>
                <a:spcPct val="0"/>
              </a:spcBef>
            </a:pPr>
            <a:r>
              <a:rPr lang="en-US" b="true" sz="9000">
                <a:solidFill>
                  <a:srgbClr val="003EA8"/>
                </a:solidFill>
                <a:latin typeface="Roboto Bold"/>
                <a:ea typeface="Roboto Bold"/>
                <a:cs typeface="Roboto Bold"/>
                <a:sym typeface="Roboto Bold"/>
              </a:rPr>
              <a:t>NỘI DUNG</a:t>
            </a:r>
          </a:p>
        </p:txBody>
      </p:sp>
      <p:grpSp>
        <p:nvGrpSpPr>
          <p:cNvPr name="Group 23" id="23"/>
          <p:cNvGrpSpPr/>
          <p:nvPr/>
        </p:nvGrpSpPr>
        <p:grpSpPr>
          <a:xfrm rot="0">
            <a:off x="836849" y="8977909"/>
            <a:ext cx="8626237" cy="813075"/>
            <a:chOff x="0" y="0"/>
            <a:chExt cx="2887704" cy="272184"/>
          </a:xfrm>
        </p:grpSpPr>
        <p:sp>
          <p:nvSpPr>
            <p:cNvPr name="Freeform 24" id="24"/>
            <p:cNvSpPr/>
            <p:nvPr/>
          </p:nvSpPr>
          <p:spPr>
            <a:xfrm flipH="false" flipV="false" rot="0">
              <a:off x="0" y="0"/>
              <a:ext cx="2887704" cy="272184"/>
            </a:xfrm>
            <a:custGeom>
              <a:avLst/>
              <a:gdLst/>
              <a:ahLst/>
              <a:cxnLst/>
              <a:rect r="r" b="b" t="t" l="l"/>
              <a:pathLst>
                <a:path h="272184" w="2887704">
                  <a:moveTo>
                    <a:pt x="13462" y="0"/>
                  </a:moveTo>
                  <a:lnTo>
                    <a:pt x="2874241" y="0"/>
                  </a:lnTo>
                  <a:cubicBezTo>
                    <a:pt x="2881676" y="0"/>
                    <a:pt x="2887704" y="6027"/>
                    <a:pt x="2887704" y="13462"/>
                  </a:cubicBezTo>
                  <a:lnTo>
                    <a:pt x="2887704" y="258721"/>
                  </a:lnTo>
                  <a:cubicBezTo>
                    <a:pt x="2887704" y="266156"/>
                    <a:pt x="2881676" y="272184"/>
                    <a:pt x="2874241" y="272184"/>
                  </a:cubicBezTo>
                  <a:lnTo>
                    <a:pt x="13462" y="272184"/>
                  </a:lnTo>
                  <a:cubicBezTo>
                    <a:pt x="6027" y="272184"/>
                    <a:pt x="0" y="266156"/>
                    <a:pt x="0" y="258721"/>
                  </a:cubicBezTo>
                  <a:lnTo>
                    <a:pt x="0" y="13462"/>
                  </a:lnTo>
                  <a:cubicBezTo>
                    <a:pt x="0" y="6027"/>
                    <a:pt x="6027" y="0"/>
                    <a:pt x="13462" y="0"/>
                  </a:cubicBezTo>
                  <a:close/>
                </a:path>
              </a:pathLst>
            </a:custGeom>
            <a:solidFill>
              <a:srgbClr val="003EA8"/>
            </a:solidFill>
          </p:spPr>
        </p:sp>
        <p:sp>
          <p:nvSpPr>
            <p:cNvPr name="TextBox 25" id="25"/>
            <p:cNvSpPr txBox="true"/>
            <p:nvPr/>
          </p:nvSpPr>
          <p:spPr>
            <a:xfrm>
              <a:off x="0" y="152400"/>
              <a:ext cx="2887704" cy="119784"/>
            </a:xfrm>
            <a:prstGeom prst="rect">
              <a:avLst/>
            </a:prstGeom>
          </p:spPr>
          <p:txBody>
            <a:bodyPr anchor="ctr" rtlCol="false" tIns="50800" lIns="50800" bIns="50800" rIns="50800"/>
            <a:lstStyle/>
            <a:p>
              <a:pPr algn="ctr">
                <a:lnSpc>
                  <a:spcPts val="2926"/>
                </a:lnSpc>
              </a:pPr>
              <a:r>
                <a:rPr lang="en-US" b="true" sz="3800" spc="-311">
                  <a:solidFill>
                    <a:srgbClr val="FFFFFF"/>
                  </a:solidFill>
                  <a:latin typeface="Roboto Bold"/>
                  <a:ea typeface="Roboto Bold"/>
                  <a:cs typeface="Roboto Bold"/>
                  <a:sym typeface="Roboto Bold"/>
                </a:rPr>
                <a:t>Kết quả.</a:t>
              </a:r>
            </a:p>
          </p:txBody>
        </p:sp>
      </p:grpSp>
      <p:grpSp>
        <p:nvGrpSpPr>
          <p:cNvPr name="Group 26" id="26"/>
          <p:cNvGrpSpPr/>
          <p:nvPr/>
        </p:nvGrpSpPr>
        <p:grpSpPr>
          <a:xfrm rot="0">
            <a:off x="838220" y="7793358"/>
            <a:ext cx="8626237" cy="813075"/>
            <a:chOff x="0" y="0"/>
            <a:chExt cx="2887704" cy="272184"/>
          </a:xfrm>
        </p:grpSpPr>
        <p:sp>
          <p:nvSpPr>
            <p:cNvPr name="Freeform 27" id="27"/>
            <p:cNvSpPr/>
            <p:nvPr/>
          </p:nvSpPr>
          <p:spPr>
            <a:xfrm flipH="false" flipV="false" rot="0">
              <a:off x="0" y="0"/>
              <a:ext cx="2887704" cy="272184"/>
            </a:xfrm>
            <a:custGeom>
              <a:avLst/>
              <a:gdLst/>
              <a:ahLst/>
              <a:cxnLst/>
              <a:rect r="r" b="b" t="t" l="l"/>
              <a:pathLst>
                <a:path h="272184" w="2887704">
                  <a:moveTo>
                    <a:pt x="13462" y="0"/>
                  </a:moveTo>
                  <a:lnTo>
                    <a:pt x="2874241" y="0"/>
                  </a:lnTo>
                  <a:cubicBezTo>
                    <a:pt x="2881676" y="0"/>
                    <a:pt x="2887704" y="6027"/>
                    <a:pt x="2887704" y="13462"/>
                  </a:cubicBezTo>
                  <a:lnTo>
                    <a:pt x="2887704" y="258721"/>
                  </a:lnTo>
                  <a:cubicBezTo>
                    <a:pt x="2887704" y="266156"/>
                    <a:pt x="2881676" y="272184"/>
                    <a:pt x="2874241" y="272184"/>
                  </a:cubicBezTo>
                  <a:lnTo>
                    <a:pt x="13462" y="272184"/>
                  </a:lnTo>
                  <a:cubicBezTo>
                    <a:pt x="6027" y="272184"/>
                    <a:pt x="0" y="266156"/>
                    <a:pt x="0" y="258721"/>
                  </a:cubicBezTo>
                  <a:lnTo>
                    <a:pt x="0" y="13462"/>
                  </a:lnTo>
                  <a:cubicBezTo>
                    <a:pt x="0" y="6027"/>
                    <a:pt x="6027" y="0"/>
                    <a:pt x="13462" y="0"/>
                  </a:cubicBezTo>
                  <a:close/>
                </a:path>
              </a:pathLst>
            </a:custGeom>
            <a:solidFill>
              <a:srgbClr val="003EA8"/>
            </a:solidFill>
          </p:spPr>
        </p:sp>
        <p:sp>
          <p:nvSpPr>
            <p:cNvPr name="TextBox 28" id="28"/>
            <p:cNvSpPr txBox="true"/>
            <p:nvPr/>
          </p:nvSpPr>
          <p:spPr>
            <a:xfrm>
              <a:off x="0" y="152400"/>
              <a:ext cx="2887704" cy="119784"/>
            </a:xfrm>
            <a:prstGeom prst="rect">
              <a:avLst/>
            </a:prstGeom>
          </p:spPr>
          <p:txBody>
            <a:bodyPr anchor="ctr" rtlCol="false" tIns="50800" lIns="50800" bIns="50800" rIns="50800"/>
            <a:lstStyle/>
            <a:p>
              <a:pPr algn="ctr">
                <a:lnSpc>
                  <a:spcPts val="2926"/>
                </a:lnSpc>
              </a:pPr>
              <a:r>
                <a:rPr lang="en-US" b="true" sz="3800" spc="-311">
                  <a:solidFill>
                    <a:srgbClr val="FFFFFF"/>
                  </a:solidFill>
                  <a:latin typeface="Roboto Bold"/>
                  <a:ea typeface="Roboto Bold"/>
                  <a:cs typeface="Roboto Bold"/>
                  <a:sym typeface="Roboto Bold"/>
                </a:rPr>
                <a:t>Phân trang dữ liệu và Mô hình dữ liệu.</a:t>
              </a:r>
            </a:p>
          </p:txBody>
        </p:sp>
      </p:grpSp>
      <p:grpSp>
        <p:nvGrpSpPr>
          <p:cNvPr name="Group 29" id="29"/>
          <p:cNvGrpSpPr/>
          <p:nvPr/>
        </p:nvGrpSpPr>
        <p:grpSpPr>
          <a:xfrm rot="0">
            <a:off x="836849" y="6608808"/>
            <a:ext cx="8626237" cy="813075"/>
            <a:chOff x="0" y="0"/>
            <a:chExt cx="2887704" cy="272184"/>
          </a:xfrm>
        </p:grpSpPr>
        <p:sp>
          <p:nvSpPr>
            <p:cNvPr name="Freeform 30" id="30"/>
            <p:cNvSpPr/>
            <p:nvPr/>
          </p:nvSpPr>
          <p:spPr>
            <a:xfrm flipH="false" flipV="false" rot="0">
              <a:off x="0" y="0"/>
              <a:ext cx="2887704" cy="272184"/>
            </a:xfrm>
            <a:custGeom>
              <a:avLst/>
              <a:gdLst/>
              <a:ahLst/>
              <a:cxnLst/>
              <a:rect r="r" b="b" t="t" l="l"/>
              <a:pathLst>
                <a:path h="272184" w="2887704">
                  <a:moveTo>
                    <a:pt x="13462" y="0"/>
                  </a:moveTo>
                  <a:lnTo>
                    <a:pt x="2874241" y="0"/>
                  </a:lnTo>
                  <a:cubicBezTo>
                    <a:pt x="2881676" y="0"/>
                    <a:pt x="2887704" y="6027"/>
                    <a:pt x="2887704" y="13462"/>
                  </a:cubicBezTo>
                  <a:lnTo>
                    <a:pt x="2887704" y="258721"/>
                  </a:lnTo>
                  <a:cubicBezTo>
                    <a:pt x="2887704" y="266156"/>
                    <a:pt x="2881676" y="272184"/>
                    <a:pt x="2874241" y="272184"/>
                  </a:cubicBezTo>
                  <a:lnTo>
                    <a:pt x="13462" y="272184"/>
                  </a:lnTo>
                  <a:cubicBezTo>
                    <a:pt x="6027" y="272184"/>
                    <a:pt x="0" y="266156"/>
                    <a:pt x="0" y="258721"/>
                  </a:cubicBezTo>
                  <a:lnTo>
                    <a:pt x="0" y="13462"/>
                  </a:lnTo>
                  <a:cubicBezTo>
                    <a:pt x="0" y="6027"/>
                    <a:pt x="6027" y="0"/>
                    <a:pt x="13462" y="0"/>
                  </a:cubicBezTo>
                  <a:close/>
                </a:path>
              </a:pathLst>
            </a:custGeom>
            <a:solidFill>
              <a:srgbClr val="003EA8"/>
            </a:solidFill>
          </p:spPr>
        </p:sp>
        <p:sp>
          <p:nvSpPr>
            <p:cNvPr name="TextBox 31" id="31"/>
            <p:cNvSpPr txBox="true"/>
            <p:nvPr/>
          </p:nvSpPr>
          <p:spPr>
            <a:xfrm>
              <a:off x="0" y="152400"/>
              <a:ext cx="2887704" cy="119784"/>
            </a:xfrm>
            <a:prstGeom prst="rect">
              <a:avLst/>
            </a:prstGeom>
          </p:spPr>
          <p:txBody>
            <a:bodyPr anchor="ctr" rtlCol="false" tIns="50800" lIns="50800" bIns="50800" rIns="50800"/>
            <a:lstStyle/>
            <a:p>
              <a:pPr algn="ctr">
                <a:lnSpc>
                  <a:spcPts val="2926"/>
                </a:lnSpc>
              </a:pPr>
              <a:r>
                <a:rPr lang="en-US" b="true" sz="3800" spc="-311">
                  <a:solidFill>
                    <a:srgbClr val="FFFFFF"/>
                  </a:solidFill>
                  <a:latin typeface="Roboto Bold"/>
                  <a:ea typeface="Roboto Bold"/>
                  <a:cs typeface="Roboto Bold"/>
                  <a:sym typeface="Roboto Bold"/>
                </a:rPr>
                <a:t>Đồng bộ thời gian thực và Hỗ trợ Offline.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908900" y="3235000"/>
            <a:ext cx="121908" cy="121908"/>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5" id="5"/>
          <p:cNvGrpSpPr/>
          <p:nvPr/>
        </p:nvGrpSpPr>
        <p:grpSpPr>
          <a:xfrm rot="0">
            <a:off x="10055579" y="7995212"/>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7" id="7"/>
          <p:cNvGrpSpPr/>
          <p:nvPr/>
        </p:nvGrpSpPr>
        <p:grpSpPr>
          <a:xfrm rot="0">
            <a:off x="6873127" y="7799872"/>
            <a:ext cx="4541746" cy="2163680"/>
            <a:chOff x="0" y="0"/>
            <a:chExt cx="1892461" cy="901566"/>
          </a:xfrm>
        </p:grpSpPr>
        <p:sp>
          <p:nvSpPr>
            <p:cNvPr name="Freeform 8" id="8"/>
            <p:cNvSpPr/>
            <p:nvPr/>
          </p:nvSpPr>
          <p:spPr>
            <a:xfrm flipH="false" flipV="false" rot="0">
              <a:off x="0" y="0"/>
              <a:ext cx="1892461" cy="901566"/>
            </a:xfrm>
            <a:custGeom>
              <a:avLst/>
              <a:gdLst/>
              <a:ahLst/>
              <a:cxnLst/>
              <a:rect r="r" b="b" t="t" l="l"/>
              <a:pathLst>
                <a:path h="901566" w="1892461">
                  <a:moveTo>
                    <a:pt x="0" y="0"/>
                  </a:moveTo>
                  <a:lnTo>
                    <a:pt x="1892461" y="0"/>
                  </a:lnTo>
                  <a:lnTo>
                    <a:pt x="1892461" y="901566"/>
                  </a:lnTo>
                  <a:lnTo>
                    <a:pt x="0" y="901566"/>
                  </a:lnTo>
                  <a:close/>
                </a:path>
              </a:pathLst>
            </a:custGeom>
            <a:solidFill>
              <a:srgbClr val="FFFFFF"/>
            </a:solidFill>
          </p:spPr>
        </p:sp>
      </p:grpSp>
      <p:grpSp>
        <p:nvGrpSpPr>
          <p:cNvPr name="Group 9" id="9"/>
          <p:cNvGrpSpPr/>
          <p:nvPr/>
        </p:nvGrpSpPr>
        <p:grpSpPr>
          <a:xfrm rot="0">
            <a:off x="804034" y="672702"/>
            <a:ext cx="16679931" cy="9112844"/>
            <a:chOff x="0" y="0"/>
            <a:chExt cx="6950218" cy="3797153"/>
          </a:xfrm>
        </p:grpSpPr>
        <p:sp>
          <p:nvSpPr>
            <p:cNvPr name="Freeform 10" id="10"/>
            <p:cNvSpPr/>
            <p:nvPr/>
          </p:nvSpPr>
          <p:spPr>
            <a:xfrm flipH="false" flipV="false" rot="0">
              <a:off x="0" y="0"/>
              <a:ext cx="6950218" cy="3797153"/>
            </a:xfrm>
            <a:custGeom>
              <a:avLst/>
              <a:gdLst/>
              <a:ahLst/>
              <a:cxnLst/>
              <a:rect r="r" b="b" t="t" l="l"/>
              <a:pathLst>
                <a:path h="3797153" w="6950218">
                  <a:moveTo>
                    <a:pt x="0" y="0"/>
                  </a:moveTo>
                  <a:lnTo>
                    <a:pt x="6950218" y="0"/>
                  </a:lnTo>
                  <a:lnTo>
                    <a:pt x="6950218" y="3797153"/>
                  </a:lnTo>
                  <a:lnTo>
                    <a:pt x="0" y="3797153"/>
                  </a:lnTo>
                  <a:close/>
                </a:path>
              </a:pathLst>
            </a:custGeom>
            <a:solidFill>
              <a:srgbClr val="FFFFFF"/>
            </a:solidFill>
          </p:spPr>
        </p:sp>
      </p:grpSp>
      <p:sp>
        <p:nvSpPr>
          <p:cNvPr name="Freeform 11" id="11"/>
          <p:cNvSpPr/>
          <p:nvPr/>
        </p:nvSpPr>
        <p:spPr>
          <a:xfrm flipH="false" flipV="false" rot="0">
            <a:off x="13414943" y="1243644"/>
            <a:ext cx="3844357" cy="1052393"/>
          </a:xfrm>
          <a:custGeom>
            <a:avLst/>
            <a:gdLst/>
            <a:ahLst/>
            <a:cxnLst/>
            <a:rect r="r" b="b" t="t" l="l"/>
            <a:pathLst>
              <a:path h="1052393" w="3844357">
                <a:moveTo>
                  <a:pt x="0" y="0"/>
                </a:moveTo>
                <a:lnTo>
                  <a:pt x="3844357" y="0"/>
                </a:lnTo>
                <a:lnTo>
                  <a:pt x="3844357" y="1052392"/>
                </a:lnTo>
                <a:lnTo>
                  <a:pt x="0" y="1052392"/>
                </a:lnTo>
                <a:lnTo>
                  <a:pt x="0" y="0"/>
                </a:lnTo>
                <a:close/>
              </a:path>
            </a:pathLst>
          </a:custGeom>
          <a:blipFill>
            <a:blip r:embed="rId3"/>
            <a:stretch>
              <a:fillRect l="0" t="0" r="0" b="0"/>
            </a:stretch>
          </a:blipFill>
        </p:spPr>
      </p:sp>
      <p:sp>
        <p:nvSpPr>
          <p:cNvPr name="Freeform 12" id="12"/>
          <p:cNvSpPr/>
          <p:nvPr/>
        </p:nvSpPr>
        <p:spPr>
          <a:xfrm flipH="false" flipV="false" rot="0">
            <a:off x="6337570" y="7470563"/>
            <a:ext cx="4429556" cy="2034329"/>
          </a:xfrm>
          <a:custGeom>
            <a:avLst/>
            <a:gdLst/>
            <a:ahLst/>
            <a:cxnLst/>
            <a:rect r="r" b="b" t="t" l="l"/>
            <a:pathLst>
              <a:path h="2034329" w="4429556">
                <a:moveTo>
                  <a:pt x="0" y="0"/>
                </a:moveTo>
                <a:lnTo>
                  <a:pt x="4429556" y="0"/>
                </a:lnTo>
                <a:lnTo>
                  <a:pt x="4429556" y="2034329"/>
                </a:lnTo>
                <a:lnTo>
                  <a:pt x="0" y="2034329"/>
                </a:lnTo>
                <a:lnTo>
                  <a:pt x="0" y="0"/>
                </a:lnTo>
                <a:close/>
              </a:path>
            </a:pathLst>
          </a:custGeom>
          <a:blipFill>
            <a:blip r:embed="rId4"/>
            <a:stretch>
              <a:fillRect l="-11650" t="-10103" r="-14980" b="-6735"/>
            </a:stretch>
          </a:blipFill>
        </p:spPr>
      </p:sp>
      <p:sp>
        <p:nvSpPr>
          <p:cNvPr name="Freeform 13" id="13"/>
          <p:cNvSpPr/>
          <p:nvPr/>
        </p:nvSpPr>
        <p:spPr>
          <a:xfrm flipH="false" flipV="false" rot="0">
            <a:off x="544612" y="526196"/>
            <a:ext cx="6064349" cy="2487287"/>
          </a:xfrm>
          <a:custGeom>
            <a:avLst/>
            <a:gdLst/>
            <a:ahLst/>
            <a:cxnLst/>
            <a:rect r="r" b="b" t="t" l="l"/>
            <a:pathLst>
              <a:path h="2487287" w="6064349">
                <a:moveTo>
                  <a:pt x="0" y="0"/>
                </a:moveTo>
                <a:lnTo>
                  <a:pt x="6064349" y="0"/>
                </a:lnTo>
                <a:lnTo>
                  <a:pt x="6064349" y="2487287"/>
                </a:lnTo>
                <a:lnTo>
                  <a:pt x="0" y="2487287"/>
                </a:lnTo>
                <a:lnTo>
                  <a:pt x="0" y="0"/>
                </a:lnTo>
                <a:close/>
              </a:path>
            </a:pathLst>
          </a:custGeom>
          <a:blipFill>
            <a:blip r:embed="rId5"/>
            <a:stretch>
              <a:fillRect l="0" t="-10953" r="0" b="-10953"/>
            </a:stretch>
          </a:blipFill>
        </p:spPr>
      </p:sp>
      <p:sp>
        <p:nvSpPr>
          <p:cNvPr name="Freeform 14" id="14"/>
          <p:cNvSpPr/>
          <p:nvPr/>
        </p:nvSpPr>
        <p:spPr>
          <a:xfrm flipH="false" flipV="false" rot="-278358">
            <a:off x="12662556" y="8722038"/>
            <a:ext cx="5868613" cy="1845945"/>
          </a:xfrm>
          <a:custGeom>
            <a:avLst/>
            <a:gdLst/>
            <a:ahLst/>
            <a:cxnLst/>
            <a:rect r="r" b="b" t="t" l="l"/>
            <a:pathLst>
              <a:path h="1845945" w="5868613">
                <a:moveTo>
                  <a:pt x="0" y="0"/>
                </a:moveTo>
                <a:lnTo>
                  <a:pt x="5868613" y="0"/>
                </a:lnTo>
                <a:lnTo>
                  <a:pt x="5868613" y="1845945"/>
                </a:lnTo>
                <a:lnTo>
                  <a:pt x="0" y="1845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278358">
            <a:off x="30544" y="92749"/>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4127227" y="4036915"/>
            <a:ext cx="10033546" cy="1717676"/>
          </a:xfrm>
          <a:prstGeom prst="rect">
            <a:avLst/>
          </a:prstGeom>
        </p:spPr>
        <p:txBody>
          <a:bodyPr anchor="t" rtlCol="false" tIns="0" lIns="0" bIns="0" rIns="0">
            <a:spAutoFit/>
          </a:bodyPr>
          <a:lstStyle/>
          <a:p>
            <a:pPr algn="ctr">
              <a:lnSpc>
                <a:spcPts val="13999"/>
              </a:lnSpc>
              <a:spcBef>
                <a:spcPct val="0"/>
              </a:spcBef>
            </a:pPr>
            <a:r>
              <a:rPr lang="en-US" b="true" sz="9999" spc="-819">
                <a:solidFill>
                  <a:srgbClr val="003EA8"/>
                </a:solidFill>
                <a:latin typeface="Roboto Bold"/>
                <a:ea typeface="Roboto Bold"/>
                <a:cs typeface="Roboto Bold"/>
                <a:sym typeface="Roboto Bold"/>
              </a:rPr>
              <a:t>Giớ</a:t>
            </a:r>
            <a:r>
              <a:rPr lang="en-US" b="true" sz="9999" spc="-819">
                <a:solidFill>
                  <a:srgbClr val="003EA8"/>
                </a:solidFill>
                <a:latin typeface="Roboto Bold"/>
                <a:ea typeface="Roboto Bold"/>
                <a:cs typeface="Roboto Bold"/>
                <a:sym typeface="Roboto Bold"/>
              </a:rPr>
              <a:t>i thiệu về Firebase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295787" y="2860774"/>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sp>
        <p:nvSpPr>
          <p:cNvPr name="TextBox 8" id="8"/>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Giới thiệu về Firebase</a:t>
            </a:r>
          </a:p>
        </p:txBody>
      </p:sp>
      <p:grpSp>
        <p:nvGrpSpPr>
          <p:cNvPr name="Group 9" id="9"/>
          <p:cNvGrpSpPr/>
          <p:nvPr/>
        </p:nvGrpSpPr>
        <p:grpSpPr>
          <a:xfrm rot="0">
            <a:off x="895970" y="9044945"/>
            <a:ext cx="3539104" cy="617207"/>
            <a:chOff x="0" y="0"/>
            <a:chExt cx="1291075" cy="225159"/>
          </a:xfrm>
        </p:grpSpPr>
        <p:sp>
          <p:nvSpPr>
            <p:cNvPr name="Freeform 10" id="10"/>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1" id="11"/>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389456" y="3662705"/>
            <a:ext cx="10315483" cy="4800600"/>
          </a:xfrm>
          <a:prstGeom prst="rect">
            <a:avLst/>
          </a:prstGeom>
        </p:spPr>
        <p:txBody>
          <a:bodyPr anchor="t" rtlCol="false" tIns="0" lIns="0" bIns="0" rIns="0">
            <a:spAutoFit/>
          </a:bodyPr>
          <a:lstStyle/>
          <a:p>
            <a:pPr algn="l" marL="647700" indent="-323850" lvl="1">
              <a:lnSpc>
                <a:spcPts val="4200"/>
              </a:lnSpc>
              <a:buFont typeface="Arial"/>
              <a:buChar char="•"/>
            </a:pPr>
            <a:r>
              <a:rPr lang="en-US" sz="3000" spc="-246">
                <a:solidFill>
                  <a:srgbClr val="000000"/>
                </a:solidFill>
                <a:latin typeface="Roboto"/>
                <a:ea typeface="Roboto"/>
                <a:cs typeface="Roboto"/>
                <a:sym typeface="Roboto"/>
              </a:rPr>
              <a:t>Firebase Cloud Firestore là m</a:t>
            </a:r>
            <a:r>
              <a:rPr lang="en-US" sz="3000" spc="-246">
                <a:solidFill>
                  <a:srgbClr val="000000"/>
                </a:solidFill>
                <a:latin typeface="Roboto"/>
                <a:ea typeface="Roboto"/>
                <a:cs typeface="Roboto"/>
                <a:sym typeface="Roboto"/>
              </a:rPr>
              <a:t>ột giải pháp cơ sở dữ liệu NoSQL linh hoạt, có khả năng mở rộng và đồng bộ dữ liệu theo thời gian thực . </a:t>
            </a:r>
          </a:p>
          <a:p>
            <a:pPr algn="l" marL="647700" indent="-323850" lvl="1">
              <a:lnSpc>
                <a:spcPts val="4200"/>
              </a:lnSpc>
              <a:buFont typeface="Arial"/>
              <a:buChar char="•"/>
            </a:pPr>
            <a:r>
              <a:rPr lang="en-US" sz="3000" spc="-246">
                <a:solidFill>
                  <a:srgbClr val="000000"/>
                </a:solidFill>
                <a:latin typeface="Roboto"/>
                <a:ea typeface="Roboto"/>
                <a:cs typeface="Roboto"/>
                <a:sym typeface="Roboto"/>
              </a:rPr>
              <a:t>Khi kết hợp với Flutter, Firestore tạo ra một kiến trúc mạnh mẽ cho phép các ứng dụng di động phản hồi tức thì và hoạt động mượt mà ngay cả khi không có kết nối mạng. </a:t>
            </a:r>
          </a:p>
          <a:p>
            <a:pPr algn="l" marL="647700" indent="-323850" lvl="1">
              <a:lnSpc>
                <a:spcPts val="4200"/>
              </a:lnSpc>
              <a:buFont typeface="Arial"/>
              <a:buChar char="•"/>
            </a:pPr>
            <a:r>
              <a:rPr lang="en-US" sz="3000" spc="-246">
                <a:solidFill>
                  <a:srgbClr val="000000"/>
                </a:solidFill>
                <a:latin typeface="Roboto"/>
                <a:ea typeface="Roboto"/>
                <a:cs typeface="Roboto"/>
                <a:sym typeface="Roboto"/>
              </a:rPr>
              <a:t>Bốn  kỹ thuật chính để tích hợp Firestore một cách hiệu quả, bao gồm: Cài đặt &amp; Bảo mật, Truy vấn Phức tạp, Khả năng Real-time &amp; Ngoại tuyến, và Tối ưu hóa hiệu suất qua Phân trang &amp; Mô hình Dữ liệu.</a:t>
            </a:r>
          </a:p>
          <a:p>
            <a:pPr algn="l">
              <a:lnSpc>
                <a:spcPts val="42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908900" y="3235000"/>
            <a:ext cx="121908" cy="121908"/>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5" id="5"/>
          <p:cNvGrpSpPr/>
          <p:nvPr/>
        </p:nvGrpSpPr>
        <p:grpSpPr>
          <a:xfrm rot="0">
            <a:off x="10055579" y="7995212"/>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7" id="7"/>
          <p:cNvGrpSpPr/>
          <p:nvPr/>
        </p:nvGrpSpPr>
        <p:grpSpPr>
          <a:xfrm rot="0">
            <a:off x="6873127" y="7799872"/>
            <a:ext cx="4541746" cy="2163680"/>
            <a:chOff x="0" y="0"/>
            <a:chExt cx="1892461" cy="901566"/>
          </a:xfrm>
        </p:grpSpPr>
        <p:sp>
          <p:nvSpPr>
            <p:cNvPr name="Freeform 8" id="8"/>
            <p:cNvSpPr/>
            <p:nvPr/>
          </p:nvSpPr>
          <p:spPr>
            <a:xfrm flipH="false" flipV="false" rot="0">
              <a:off x="0" y="0"/>
              <a:ext cx="1892461" cy="901566"/>
            </a:xfrm>
            <a:custGeom>
              <a:avLst/>
              <a:gdLst/>
              <a:ahLst/>
              <a:cxnLst/>
              <a:rect r="r" b="b" t="t" l="l"/>
              <a:pathLst>
                <a:path h="901566" w="1892461">
                  <a:moveTo>
                    <a:pt x="0" y="0"/>
                  </a:moveTo>
                  <a:lnTo>
                    <a:pt x="1892461" y="0"/>
                  </a:lnTo>
                  <a:lnTo>
                    <a:pt x="1892461" y="901566"/>
                  </a:lnTo>
                  <a:lnTo>
                    <a:pt x="0" y="901566"/>
                  </a:lnTo>
                  <a:close/>
                </a:path>
              </a:pathLst>
            </a:custGeom>
            <a:solidFill>
              <a:srgbClr val="FFFFFF"/>
            </a:solidFill>
          </p:spPr>
        </p:sp>
      </p:grpSp>
      <p:grpSp>
        <p:nvGrpSpPr>
          <p:cNvPr name="Group 9" id="9"/>
          <p:cNvGrpSpPr/>
          <p:nvPr/>
        </p:nvGrpSpPr>
        <p:grpSpPr>
          <a:xfrm rot="0">
            <a:off x="804034" y="672702"/>
            <a:ext cx="16679931" cy="9112844"/>
            <a:chOff x="0" y="0"/>
            <a:chExt cx="6950218" cy="3797153"/>
          </a:xfrm>
        </p:grpSpPr>
        <p:sp>
          <p:nvSpPr>
            <p:cNvPr name="Freeform 10" id="10"/>
            <p:cNvSpPr/>
            <p:nvPr/>
          </p:nvSpPr>
          <p:spPr>
            <a:xfrm flipH="false" flipV="false" rot="0">
              <a:off x="0" y="0"/>
              <a:ext cx="6950218" cy="3797153"/>
            </a:xfrm>
            <a:custGeom>
              <a:avLst/>
              <a:gdLst/>
              <a:ahLst/>
              <a:cxnLst/>
              <a:rect r="r" b="b" t="t" l="l"/>
              <a:pathLst>
                <a:path h="3797153" w="6950218">
                  <a:moveTo>
                    <a:pt x="0" y="0"/>
                  </a:moveTo>
                  <a:lnTo>
                    <a:pt x="6950218" y="0"/>
                  </a:lnTo>
                  <a:lnTo>
                    <a:pt x="6950218" y="3797153"/>
                  </a:lnTo>
                  <a:lnTo>
                    <a:pt x="0" y="3797153"/>
                  </a:lnTo>
                  <a:close/>
                </a:path>
              </a:pathLst>
            </a:custGeom>
            <a:solidFill>
              <a:srgbClr val="FFFFFF"/>
            </a:solidFill>
          </p:spPr>
        </p:sp>
      </p:grpSp>
      <p:sp>
        <p:nvSpPr>
          <p:cNvPr name="Freeform 11" id="11"/>
          <p:cNvSpPr/>
          <p:nvPr/>
        </p:nvSpPr>
        <p:spPr>
          <a:xfrm flipH="false" flipV="false" rot="0">
            <a:off x="13414943" y="1243644"/>
            <a:ext cx="3844357" cy="1052393"/>
          </a:xfrm>
          <a:custGeom>
            <a:avLst/>
            <a:gdLst/>
            <a:ahLst/>
            <a:cxnLst/>
            <a:rect r="r" b="b" t="t" l="l"/>
            <a:pathLst>
              <a:path h="1052393" w="3844357">
                <a:moveTo>
                  <a:pt x="0" y="0"/>
                </a:moveTo>
                <a:lnTo>
                  <a:pt x="3844357" y="0"/>
                </a:lnTo>
                <a:lnTo>
                  <a:pt x="3844357" y="1052392"/>
                </a:lnTo>
                <a:lnTo>
                  <a:pt x="0" y="1052392"/>
                </a:lnTo>
                <a:lnTo>
                  <a:pt x="0" y="0"/>
                </a:lnTo>
                <a:close/>
              </a:path>
            </a:pathLst>
          </a:custGeom>
          <a:blipFill>
            <a:blip r:embed="rId3"/>
            <a:stretch>
              <a:fillRect l="0" t="0" r="0" b="0"/>
            </a:stretch>
          </a:blipFill>
        </p:spPr>
      </p:sp>
      <p:sp>
        <p:nvSpPr>
          <p:cNvPr name="Freeform 12" id="12"/>
          <p:cNvSpPr/>
          <p:nvPr/>
        </p:nvSpPr>
        <p:spPr>
          <a:xfrm flipH="false" flipV="false" rot="0">
            <a:off x="6337570" y="7470563"/>
            <a:ext cx="4429556" cy="2034329"/>
          </a:xfrm>
          <a:custGeom>
            <a:avLst/>
            <a:gdLst/>
            <a:ahLst/>
            <a:cxnLst/>
            <a:rect r="r" b="b" t="t" l="l"/>
            <a:pathLst>
              <a:path h="2034329" w="4429556">
                <a:moveTo>
                  <a:pt x="0" y="0"/>
                </a:moveTo>
                <a:lnTo>
                  <a:pt x="4429556" y="0"/>
                </a:lnTo>
                <a:lnTo>
                  <a:pt x="4429556" y="2034329"/>
                </a:lnTo>
                <a:lnTo>
                  <a:pt x="0" y="2034329"/>
                </a:lnTo>
                <a:lnTo>
                  <a:pt x="0" y="0"/>
                </a:lnTo>
                <a:close/>
              </a:path>
            </a:pathLst>
          </a:custGeom>
          <a:blipFill>
            <a:blip r:embed="rId4"/>
            <a:stretch>
              <a:fillRect l="-11650" t="-10103" r="-14980" b="-6735"/>
            </a:stretch>
          </a:blipFill>
        </p:spPr>
      </p:sp>
      <p:sp>
        <p:nvSpPr>
          <p:cNvPr name="Freeform 13" id="13"/>
          <p:cNvSpPr/>
          <p:nvPr/>
        </p:nvSpPr>
        <p:spPr>
          <a:xfrm flipH="false" flipV="false" rot="0">
            <a:off x="544612" y="526196"/>
            <a:ext cx="6064349" cy="2487287"/>
          </a:xfrm>
          <a:custGeom>
            <a:avLst/>
            <a:gdLst/>
            <a:ahLst/>
            <a:cxnLst/>
            <a:rect r="r" b="b" t="t" l="l"/>
            <a:pathLst>
              <a:path h="2487287" w="6064349">
                <a:moveTo>
                  <a:pt x="0" y="0"/>
                </a:moveTo>
                <a:lnTo>
                  <a:pt x="6064349" y="0"/>
                </a:lnTo>
                <a:lnTo>
                  <a:pt x="6064349" y="2487287"/>
                </a:lnTo>
                <a:lnTo>
                  <a:pt x="0" y="2487287"/>
                </a:lnTo>
                <a:lnTo>
                  <a:pt x="0" y="0"/>
                </a:lnTo>
                <a:close/>
              </a:path>
            </a:pathLst>
          </a:custGeom>
          <a:blipFill>
            <a:blip r:embed="rId5"/>
            <a:stretch>
              <a:fillRect l="0" t="-10953" r="0" b="-10953"/>
            </a:stretch>
          </a:blipFill>
        </p:spPr>
      </p:sp>
      <p:sp>
        <p:nvSpPr>
          <p:cNvPr name="Freeform 14" id="14"/>
          <p:cNvSpPr/>
          <p:nvPr/>
        </p:nvSpPr>
        <p:spPr>
          <a:xfrm flipH="false" flipV="false" rot="-278358">
            <a:off x="12662556" y="8722038"/>
            <a:ext cx="5868613" cy="1845945"/>
          </a:xfrm>
          <a:custGeom>
            <a:avLst/>
            <a:gdLst/>
            <a:ahLst/>
            <a:cxnLst/>
            <a:rect r="r" b="b" t="t" l="l"/>
            <a:pathLst>
              <a:path h="1845945" w="5868613">
                <a:moveTo>
                  <a:pt x="0" y="0"/>
                </a:moveTo>
                <a:lnTo>
                  <a:pt x="5868613" y="0"/>
                </a:lnTo>
                <a:lnTo>
                  <a:pt x="5868613" y="1845945"/>
                </a:lnTo>
                <a:lnTo>
                  <a:pt x="0" y="1845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278358">
            <a:off x="30544" y="92749"/>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976265" y="4036915"/>
            <a:ext cx="12335470" cy="1717676"/>
          </a:xfrm>
          <a:prstGeom prst="rect">
            <a:avLst/>
          </a:prstGeom>
        </p:spPr>
        <p:txBody>
          <a:bodyPr anchor="t" rtlCol="false" tIns="0" lIns="0" bIns="0" rIns="0">
            <a:spAutoFit/>
          </a:bodyPr>
          <a:lstStyle/>
          <a:p>
            <a:pPr algn="ctr">
              <a:lnSpc>
                <a:spcPts val="13999"/>
              </a:lnSpc>
              <a:spcBef>
                <a:spcPct val="0"/>
              </a:spcBef>
            </a:pPr>
            <a:r>
              <a:rPr lang="en-US" b="true" sz="9999" spc="-819">
                <a:solidFill>
                  <a:srgbClr val="003EA8"/>
                </a:solidFill>
                <a:latin typeface="Roboto Bold"/>
                <a:ea typeface="Roboto Bold"/>
                <a:cs typeface="Roboto Bold"/>
                <a:sym typeface="Roboto Bold"/>
              </a:rPr>
              <a:t>Cà</a:t>
            </a:r>
            <a:r>
              <a:rPr lang="en-US" b="true" sz="9999" spc="-819">
                <a:solidFill>
                  <a:srgbClr val="003EA8"/>
                </a:solidFill>
                <a:latin typeface="Roboto Bold"/>
                <a:ea typeface="Roboto Bold"/>
                <a:cs typeface="Roboto Bold"/>
                <a:sym typeface="Roboto Bold"/>
              </a:rPr>
              <a:t>i đặt cơ bản và xác thực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830518"/>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5756757" y="5278311"/>
            <a:ext cx="6377953" cy="4171526"/>
          </a:xfrm>
          <a:custGeom>
            <a:avLst/>
            <a:gdLst/>
            <a:ahLst/>
            <a:cxnLst/>
            <a:rect r="r" b="b" t="t" l="l"/>
            <a:pathLst>
              <a:path h="4171526" w="6377953">
                <a:moveTo>
                  <a:pt x="0" y="0"/>
                </a:moveTo>
                <a:lnTo>
                  <a:pt x="6377952" y="0"/>
                </a:lnTo>
                <a:lnTo>
                  <a:pt x="6377952" y="4171526"/>
                </a:lnTo>
                <a:lnTo>
                  <a:pt x="0" y="4171526"/>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Cài đặt</a:t>
            </a:r>
          </a:p>
        </p:txBody>
      </p:sp>
      <p:sp>
        <p:nvSpPr>
          <p:cNvPr name="TextBox 13" id="13"/>
          <p:cNvSpPr txBox="true"/>
          <p:nvPr/>
        </p:nvSpPr>
        <p:spPr>
          <a:xfrm rot="0">
            <a:off x="895970" y="3019425"/>
            <a:ext cx="12100601" cy="2515870"/>
          </a:xfrm>
          <a:prstGeom prst="rect">
            <a:avLst/>
          </a:prstGeom>
        </p:spPr>
        <p:txBody>
          <a:bodyPr anchor="t" rtlCol="false" tIns="0" lIns="0" bIns="0" rIns="0">
            <a:spAutoFit/>
          </a:bodyPr>
          <a:lstStyle/>
          <a:p>
            <a:pPr algn="l" marL="755647" indent="-377824" lvl="1">
              <a:lnSpc>
                <a:spcPts val="4899"/>
              </a:lnSpc>
              <a:buFont typeface="Arial"/>
              <a:buChar char="•"/>
            </a:pPr>
            <a:r>
              <a:rPr lang="en-US" sz="3499" spc="-286">
                <a:solidFill>
                  <a:srgbClr val="000000"/>
                </a:solidFill>
                <a:latin typeface="Roboto"/>
                <a:ea typeface="Roboto"/>
                <a:cs typeface="Roboto"/>
                <a:sym typeface="Roboto"/>
              </a:rPr>
              <a:t>Đầu t</a:t>
            </a:r>
            <a:r>
              <a:rPr lang="en-US" sz="3499" spc="-286">
                <a:solidFill>
                  <a:srgbClr val="000000"/>
                </a:solidFill>
                <a:latin typeface="Roboto"/>
                <a:ea typeface="Roboto"/>
                <a:cs typeface="Roboto"/>
                <a:sym typeface="Roboto"/>
              </a:rPr>
              <a:t>iên tạo Project Flutter mới. </a:t>
            </a:r>
          </a:p>
          <a:p>
            <a:pPr algn="l" marL="755647" indent="-377824" lvl="1">
              <a:lnSpc>
                <a:spcPts val="4899"/>
              </a:lnSpc>
              <a:buFont typeface="Arial"/>
              <a:buChar char="•"/>
            </a:pPr>
            <a:r>
              <a:rPr lang="en-US" sz="3499" spc="-286">
                <a:solidFill>
                  <a:srgbClr val="000000"/>
                </a:solidFill>
                <a:latin typeface="Roboto"/>
                <a:ea typeface="Roboto"/>
                <a:cs typeface="Roboto"/>
                <a:sym typeface="Roboto"/>
              </a:rPr>
              <a:t>Sau khi tạo xong ta sẽ thêm các thư viện cần thiết bằng cách khai báo dưới dependencies trongpubspec.yaml:</a:t>
            </a:r>
          </a:p>
          <a:p>
            <a:pPr algn="l">
              <a:lnSpc>
                <a:spcPts val="54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830518"/>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Cài đặt</a:t>
            </a:r>
          </a:p>
        </p:txBody>
      </p:sp>
      <p:sp>
        <p:nvSpPr>
          <p:cNvPr name="TextBox 12" id="12"/>
          <p:cNvSpPr txBox="true"/>
          <p:nvPr/>
        </p:nvSpPr>
        <p:spPr>
          <a:xfrm rot="0">
            <a:off x="895970" y="3070225"/>
            <a:ext cx="6553458" cy="6188075"/>
          </a:xfrm>
          <a:prstGeom prst="rect">
            <a:avLst/>
          </a:prstGeom>
        </p:spPr>
        <p:txBody>
          <a:bodyPr anchor="t" rtlCol="false" tIns="0" lIns="0" bIns="0" rIns="0">
            <a:spAutoFit/>
          </a:bodyPr>
          <a:lstStyle/>
          <a:p>
            <a:pPr algn="l">
              <a:lnSpc>
                <a:spcPts val="4900"/>
              </a:lnSpc>
            </a:pPr>
            <a:r>
              <a:rPr lang="en-US" sz="3500" spc="-287">
                <a:solidFill>
                  <a:srgbClr val="000000"/>
                </a:solidFill>
                <a:latin typeface="Roboto"/>
                <a:ea typeface="Roboto"/>
                <a:cs typeface="Roboto"/>
                <a:sym typeface="Roboto"/>
              </a:rPr>
              <a:t>Tổng qua</a:t>
            </a:r>
            <a:r>
              <a:rPr lang="en-US" sz="3500" spc="-287">
                <a:solidFill>
                  <a:srgbClr val="000000"/>
                </a:solidFill>
                <a:latin typeface="Roboto"/>
                <a:ea typeface="Roboto"/>
                <a:cs typeface="Roboto"/>
                <a:sym typeface="Roboto"/>
              </a:rPr>
              <a:t>n về các package vừa thêm:</a:t>
            </a:r>
          </a:p>
          <a:p>
            <a:pPr algn="l" marL="755651" indent="-377825" lvl="1">
              <a:lnSpc>
                <a:spcPts val="4900"/>
              </a:lnSpc>
              <a:buFont typeface="Arial"/>
              <a:buChar char="•"/>
            </a:pPr>
            <a:r>
              <a:rPr lang="en-US" sz="3500" spc="-287">
                <a:solidFill>
                  <a:srgbClr val="000000"/>
                </a:solidFill>
                <a:latin typeface="Roboto"/>
                <a:ea typeface="Roboto"/>
                <a:cs typeface="Roboto"/>
                <a:sym typeface="Roboto"/>
              </a:rPr>
              <a:t>firebase_core: Dùng để khởi tạo kết nối Firebase.</a:t>
            </a:r>
          </a:p>
          <a:p>
            <a:pPr algn="l" marL="755651" indent="-377825" lvl="1">
              <a:lnSpc>
                <a:spcPts val="4900"/>
              </a:lnSpc>
              <a:buFont typeface="Arial"/>
              <a:buChar char="•"/>
            </a:pPr>
            <a:r>
              <a:rPr lang="en-US" sz="3500" spc="-287">
                <a:solidFill>
                  <a:srgbClr val="000000"/>
                </a:solidFill>
                <a:latin typeface="Roboto"/>
                <a:ea typeface="Roboto"/>
                <a:cs typeface="Roboto"/>
                <a:sym typeface="Roboto"/>
              </a:rPr>
              <a:t>cloud_firestore: Làm việc với cơ sở dữ liệu NoSQL.</a:t>
            </a:r>
          </a:p>
          <a:p>
            <a:pPr algn="l" marL="755651" indent="-377825" lvl="1">
              <a:lnSpc>
                <a:spcPts val="4900"/>
              </a:lnSpc>
              <a:buFont typeface="Arial"/>
              <a:buChar char="•"/>
            </a:pPr>
            <a:r>
              <a:rPr lang="en-US" sz="3500" spc="-287">
                <a:solidFill>
                  <a:srgbClr val="000000"/>
                </a:solidFill>
                <a:latin typeface="Roboto"/>
                <a:ea typeface="Roboto"/>
                <a:cs typeface="Roboto"/>
                <a:sym typeface="Roboto"/>
              </a:rPr>
              <a:t>firebase_auth: Cung cấp các phương thức xác thực người dùng.</a:t>
            </a:r>
          </a:p>
          <a:p>
            <a:pPr algn="l" marL="755651" indent="-377825" lvl="1">
              <a:lnSpc>
                <a:spcPts val="4900"/>
              </a:lnSpc>
              <a:buFont typeface="Arial"/>
              <a:buChar char="•"/>
            </a:pPr>
            <a:r>
              <a:rPr lang="en-US" sz="3500" spc="-287">
                <a:solidFill>
                  <a:srgbClr val="000000"/>
                </a:solidFill>
                <a:latin typeface="Roboto"/>
                <a:ea typeface="Roboto"/>
                <a:cs typeface="Roboto"/>
                <a:sym typeface="Roboto"/>
              </a:rPr>
              <a:t>google_sign_in: Dùng để đăng nhập thông qua tài khoản Google.</a:t>
            </a:r>
          </a:p>
          <a:p>
            <a:pPr algn="l">
              <a:lnSpc>
                <a:spcPts val="4900"/>
              </a:lnSpc>
              <a:spcBef>
                <a:spcPct val="0"/>
              </a:spcBef>
            </a:pPr>
          </a:p>
        </p:txBody>
      </p:sp>
      <p:sp>
        <p:nvSpPr>
          <p:cNvPr name="Freeform 13" id="13"/>
          <p:cNvSpPr/>
          <p:nvPr/>
        </p:nvSpPr>
        <p:spPr>
          <a:xfrm flipH="false" flipV="false" rot="0">
            <a:off x="8556577" y="3812003"/>
            <a:ext cx="6377953" cy="4171526"/>
          </a:xfrm>
          <a:custGeom>
            <a:avLst/>
            <a:gdLst/>
            <a:ahLst/>
            <a:cxnLst/>
            <a:rect r="r" b="b" t="t" l="l"/>
            <a:pathLst>
              <a:path h="4171526" w="6377953">
                <a:moveTo>
                  <a:pt x="0" y="0"/>
                </a:moveTo>
                <a:lnTo>
                  <a:pt x="6377952" y="0"/>
                </a:lnTo>
                <a:lnTo>
                  <a:pt x="6377952" y="4171525"/>
                </a:lnTo>
                <a:lnTo>
                  <a:pt x="0" y="4171525"/>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981799"/>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8688077" y="3199271"/>
            <a:ext cx="8112829" cy="5743698"/>
          </a:xfrm>
          <a:custGeom>
            <a:avLst/>
            <a:gdLst/>
            <a:ahLst/>
            <a:cxnLst/>
            <a:rect r="r" b="b" t="t" l="l"/>
            <a:pathLst>
              <a:path h="5743698" w="8112829">
                <a:moveTo>
                  <a:pt x="0" y="0"/>
                </a:moveTo>
                <a:lnTo>
                  <a:pt x="8112829" y="0"/>
                </a:lnTo>
                <a:lnTo>
                  <a:pt x="8112829" y="5743698"/>
                </a:lnTo>
                <a:lnTo>
                  <a:pt x="0" y="5743698"/>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Cài đặt</a:t>
            </a:r>
          </a:p>
        </p:txBody>
      </p:sp>
      <p:sp>
        <p:nvSpPr>
          <p:cNvPr name="TextBox 13" id="13"/>
          <p:cNvSpPr txBox="true"/>
          <p:nvPr/>
        </p:nvSpPr>
        <p:spPr>
          <a:xfrm rot="0">
            <a:off x="895970" y="4328152"/>
            <a:ext cx="6324515" cy="5334000"/>
          </a:xfrm>
          <a:prstGeom prst="rect">
            <a:avLst/>
          </a:prstGeom>
        </p:spPr>
        <p:txBody>
          <a:bodyPr anchor="t" rtlCol="false" tIns="0" lIns="0" bIns="0" rIns="0">
            <a:spAutoFit/>
          </a:bodyPr>
          <a:lstStyle/>
          <a:p>
            <a:pPr algn="l">
              <a:lnSpc>
                <a:spcPts val="4200"/>
              </a:lnSpc>
            </a:pPr>
            <a:r>
              <a:rPr lang="en-US" sz="3000" spc="-246">
                <a:solidFill>
                  <a:srgbClr val="000000"/>
                </a:solidFill>
                <a:latin typeface="Roboto"/>
                <a:ea typeface="Roboto"/>
                <a:cs typeface="Roboto"/>
                <a:sym typeface="Roboto"/>
              </a:rPr>
              <a:t> </a:t>
            </a:r>
            <a:r>
              <a:rPr lang="en-US" sz="3000" spc="-246">
                <a:solidFill>
                  <a:srgbClr val="000000"/>
                </a:solidFill>
                <a:latin typeface="Roboto"/>
                <a:ea typeface="Roboto"/>
                <a:cs typeface="Roboto"/>
                <a:sym typeface="Roboto"/>
              </a:rPr>
              <a:t>1.Truy cập Firebase, tạo Project.</a:t>
            </a:r>
          </a:p>
          <a:p>
            <a:pPr algn="l">
              <a:lnSpc>
                <a:spcPts val="4200"/>
              </a:lnSpc>
            </a:pPr>
            <a:r>
              <a:rPr lang="en-US" sz="3000" spc="-246">
                <a:solidFill>
                  <a:srgbClr val="000000"/>
                </a:solidFill>
                <a:latin typeface="Roboto"/>
                <a:ea typeface="Roboto"/>
                <a:cs typeface="Roboto"/>
                <a:sym typeface="Roboto"/>
              </a:rPr>
              <a:t> </a:t>
            </a:r>
            <a:r>
              <a:rPr lang="en-US" sz="3000" spc="-246">
                <a:solidFill>
                  <a:srgbClr val="000000"/>
                </a:solidFill>
                <a:latin typeface="Roboto"/>
                <a:ea typeface="Roboto"/>
                <a:cs typeface="Roboto"/>
                <a:sym typeface="Roboto"/>
              </a:rPr>
              <a:t>2.Khi project đã được tạo, trong giao diện Firebase Console, chọn Project Overview.</a:t>
            </a:r>
          </a:p>
          <a:p>
            <a:pPr algn="l">
              <a:lnSpc>
                <a:spcPts val="4200"/>
              </a:lnSpc>
            </a:pPr>
            <a:r>
              <a:rPr lang="en-US" sz="3000" spc="-246">
                <a:solidFill>
                  <a:srgbClr val="000000"/>
                </a:solidFill>
                <a:latin typeface="Roboto"/>
                <a:ea typeface="Roboto"/>
                <a:cs typeface="Roboto"/>
                <a:sym typeface="Roboto"/>
              </a:rPr>
              <a:t> </a:t>
            </a:r>
            <a:r>
              <a:rPr lang="en-US" sz="3000" spc="-246">
                <a:solidFill>
                  <a:srgbClr val="000000"/>
                </a:solidFill>
                <a:latin typeface="Roboto"/>
                <a:ea typeface="Roboto"/>
                <a:cs typeface="Roboto"/>
                <a:sym typeface="Roboto"/>
              </a:rPr>
              <a:t>3.Nhấn vào ứng dụng mong muốn trong trường hợp của nhóm đó là biểu tượng Web (&lt;/&gt;) để thêm một Web App cho Flutter.</a:t>
            </a:r>
          </a:p>
          <a:p>
            <a:pPr algn="l">
              <a:lnSpc>
                <a:spcPts val="4200"/>
              </a:lnSpc>
            </a:pPr>
            <a:r>
              <a:rPr lang="en-US" sz="3000" spc="-246">
                <a:solidFill>
                  <a:srgbClr val="000000"/>
                </a:solidFill>
                <a:latin typeface="Roboto"/>
                <a:ea typeface="Roboto"/>
                <a:cs typeface="Roboto"/>
                <a:sym typeface="Roboto"/>
              </a:rPr>
              <a:t> </a:t>
            </a:r>
            <a:r>
              <a:rPr lang="en-US" sz="3000" spc="-246">
                <a:solidFill>
                  <a:srgbClr val="000000"/>
                </a:solidFill>
                <a:latin typeface="Roboto"/>
                <a:ea typeface="Roboto"/>
                <a:cs typeface="Roboto"/>
                <a:sym typeface="Roboto"/>
              </a:rPr>
              <a:t>4.Firebase sẽ hiển thị một đoạn SDK tích vào config chứa các thông tin như trong hình.</a:t>
            </a:r>
          </a:p>
          <a:p>
            <a:pPr algn="l">
              <a:lnSpc>
                <a:spcPts val="4200"/>
              </a:lnSpc>
              <a:spcBef>
                <a:spcPct val="0"/>
              </a:spcBef>
            </a:pPr>
            <a:r>
              <a:rPr lang="en-US" sz="3000" spc="-246">
                <a:solidFill>
                  <a:srgbClr val="000000"/>
                </a:solidFill>
                <a:latin typeface="Roboto"/>
                <a:ea typeface="Roboto"/>
                <a:cs typeface="Roboto"/>
                <a:sym typeface="Roboto"/>
              </a:rPr>
              <a:t> 5. Cuối cùng thêm đoạn mã đó vào trong main.dart:</a:t>
            </a:r>
          </a:p>
        </p:txBody>
      </p:sp>
      <p:sp>
        <p:nvSpPr>
          <p:cNvPr name="TextBox 14" id="14"/>
          <p:cNvSpPr txBox="true"/>
          <p:nvPr/>
        </p:nvSpPr>
        <p:spPr>
          <a:xfrm rot="0">
            <a:off x="8934789" y="9128752"/>
            <a:ext cx="7619405" cy="533399"/>
          </a:xfrm>
          <a:prstGeom prst="rect">
            <a:avLst/>
          </a:prstGeom>
        </p:spPr>
        <p:txBody>
          <a:bodyPr anchor="t" rtlCol="false" tIns="0" lIns="0" bIns="0" rIns="0">
            <a:spAutoFit/>
          </a:bodyPr>
          <a:lstStyle/>
          <a:p>
            <a:pPr algn="ctr">
              <a:lnSpc>
                <a:spcPts val="4200"/>
              </a:lnSpc>
              <a:spcBef>
                <a:spcPct val="0"/>
              </a:spcBef>
            </a:pPr>
            <a:r>
              <a:rPr lang="en-US" sz="3000" spc="-246">
                <a:solidFill>
                  <a:srgbClr val="000000"/>
                </a:solidFill>
                <a:latin typeface="Roboto"/>
                <a:ea typeface="Roboto"/>
                <a:cs typeface="Roboto"/>
                <a:sym typeface="Roboto"/>
              </a:rPr>
              <a:t>=&gt; C</a:t>
            </a:r>
            <a:r>
              <a:rPr lang="en-US" sz="3000" spc="-246">
                <a:solidFill>
                  <a:srgbClr val="000000"/>
                </a:solidFill>
                <a:latin typeface="Roboto"/>
                <a:ea typeface="Roboto"/>
                <a:cs typeface="Roboto"/>
                <a:sym typeface="Roboto"/>
              </a:rPr>
              <a:t>ấu hình SDK  cần để khởi tạo Firebase trong Flutter.</a:t>
            </a:r>
          </a:p>
        </p:txBody>
      </p:sp>
      <p:sp>
        <p:nvSpPr>
          <p:cNvPr name="TextBox 15" id="15"/>
          <p:cNvSpPr txBox="true"/>
          <p:nvPr/>
        </p:nvSpPr>
        <p:spPr>
          <a:xfrm rot="0">
            <a:off x="516595" y="3381188"/>
            <a:ext cx="7504782" cy="533399"/>
          </a:xfrm>
          <a:prstGeom prst="rect">
            <a:avLst/>
          </a:prstGeom>
        </p:spPr>
        <p:txBody>
          <a:bodyPr anchor="t" rtlCol="false" tIns="0" lIns="0" bIns="0" rIns="0">
            <a:spAutoFit/>
          </a:bodyPr>
          <a:lstStyle/>
          <a:p>
            <a:pPr algn="ctr">
              <a:lnSpc>
                <a:spcPts val="4200"/>
              </a:lnSpc>
              <a:spcBef>
                <a:spcPct val="0"/>
              </a:spcBef>
            </a:pPr>
            <a:r>
              <a:rPr lang="en-US" sz="3000" spc="-246">
                <a:solidFill>
                  <a:srgbClr val="000000"/>
                </a:solidFill>
                <a:latin typeface="Roboto"/>
                <a:ea typeface="Roboto"/>
                <a:cs typeface="Roboto"/>
                <a:sym typeface="Roboto"/>
              </a:rPr>
              <a:t> Các</a:t>
            </a:r>
            <a:r>
              <a:rPr lang="en-US" sz="3000" spc="-246">
                <a:solidFill>
                  <a:srgbClr val="000000"/>
                </a:solidFill>
                <a:latin typeface="Roboto"/>
                <a:ea typeface="Roboto"/>
                <a:cs typeface="Roboto"/>
                <a:sym typeface="Roboto"/>
              </a:rPr>
              <a:t> bước tạo Firebase Project và cấu hình ứng dụng: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301205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4643641" y="3209242"/>
            <a:ext cx="9363792" cy="5557265"/>
          </a:xfrm>
          <a:custGeom>
            <a:avLst/>
            <a:gdLst/>
            <a:ahLst/>
            <a:cxnLst/>
            <a:rect r="r" b="b" t="t" l="l"/>
            <a:pathLst>
              <a:path h="5557265" w="9363792">
                <a:moveTo>
                  <a:pt x="0" y="0"/>
                </a:moveTo>
                <a:lnTo>
                  <a:pt x="9363793" y="0"/>
                </a:lnTo>
                <a:lnTo>
                  <a:pt x="9363793" y="5557265"/>
                </a:lnTo>
                <a:lnTo>
                  <a:pt x="0" y="5557265"/>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Cài đặt</a:t>
            </a:r>
          </a:p>
        </p:txBody>
      </p:sp>
      <p:sp>
        <p:nvSpPr>
          <p:cNvPr name="TextBox 13" id="13"/>
          <p:cNvSpPr txBox="true"/>
          <p:nvPr/>
        </p:nvSpPr>
        <p:spPr>
          <a:xfrm rot="0">
            <a:off x="5583705" y="8953500"/>
            <a:ext cx="7947868" cy="533399"/>
          </a:xfrm>
          <a:prstGeom prst="rect">
            <a:avLst/>
          </a:prstGeom>
        </p:spPr>
        <p:txBody>
          <a:bodyPr anchor="t" rtlCol="false" tIns="0" lIns="0" bIns="0" rIns="0">
            <a:spAutoFit/>
          </a:bodyPr>
          <a:lstStyle/>
          <a:p>
            <a:pPr algn="ctr">
              <a:lnSpc>
                <a:spcPts val="4200"/>
              </a:lnSpc>
              <a:spcBef>
                <a:spcPct val="0"/>
              </a:spcBef>
            </a:pPr>
            <a:r>
              <a:rPr lang="en-US" sz="3000" spc="-246">
                <a:solidFill>
                  <a:srgbClr val="000000"/>
                </a:solidFill>
                <a:latin typeface="Roboto"/>
                <a:ea typeface="Roboto"/>
                <a:cs typeface="Roboto"/>
                <a:sym typeface="Roboto"/>
              </a:rPr>
              <a:t>main.dart khi đã được thêm vào đoạn code cấu hình SDK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891031"/>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Xác thực</a:t>
            </a:r>
          </a:p>
        </p:txBody>
      </p:sp>
      <p:sp>
        <p:nvSpPr>
          <p:cNvPr name="TextBox 12" id="12"/>
          <p:cNvSpPr txBox="true"/>
          <p:nvPr/>
        </p:nvSpPr>
        <p:spPr>
          <a:xfrm rot="0">
            <a:off x="1205480" y="4777745"/>
            <a:ext cx="9306669" cy="3733799"/>
          </a:xfrm>
          <a:prstGeom prst="rect">
            <a:avLst/>
          </a:prstGeom>
        </p:spPr>
        <p:txBody>
          <a:bodyPr anchor="t" rtlCol="false" tIns="0" lIns="0" bIns="0" rIns="0">
            <a:spAutoFit/>
          </a:bodyPr>
          <a:lstStyle/>
          <a:p>
            <a:pPr algn="l">
              <a:lnSpc>
                <a:spcPts val="4200"/>
              </a:lnSpc>
            </a:pPr>
          </a:p>
          <a:p>
            <a:pPr algn="l" marL="647705" indent="-323852" lvl="1">
              <a:lnSpc>
                <a:spcPts val="4200"/>
              </a:lnSpc>
              <a:buFont typeface="Arial"/>
              <a:buChar char="•"/>
            </a:pPr>
            <a:r>
              <a:rPr lang="en-US" sz="3000" spc="-246">
                <a:solidFill>
                  <a:srgbClr val="000000"/>
                </a:solidFill>
                <a:latin typeface="Roboto"/>
                <a:ea typeface="Roboto"/>
                <a:cs typeface="Roboto"/>
                <a:sym typeface="Roboto"/>
              </a:rPr>
              <a:t>Ẩn danh (Anonymous Sign-In): Cho phép đăng nhập mà không cần dùng tài khoản thông tin cụ thể của người dùng sẽ không được lưu.</a:t>
            </a:r>
          </a:p>
          <a:p>
            <a:pPr algn="l" marL="647705" indent="-323852" lvl="1">
              <a:lnSpc>
                <a:spcPts val="4200"/>
              </a:lnSpc>
              <a:spcBef>
                <a:spcPct val="0"/>
              </a:spcBef>
              <a:buFont typeface="Arial"/>
              <a:buChar char="•"/>
            </a:pPr>
            <a:r>
              <a:rPr lang="en-US" sz="3000" spc="-246">
                <a:solidFill>
                  <a:srgbClr val="000000"/>
                </a:solidFill>
                <a:latin typeface="Roboto"/>
                <a:ea typeface="Roboto"/>
                <a:cs typeface="Roboto"/>
                <a:sym typeface="Roboto"/>
              </a:rPr>
              <a:t>Tài khoản Google (Google Sign-In): Cho phép đăng nhập mà sẽ thông báo cho bên firebase là ai truy cập, hỗ trợ cá nhân hoá dữ liệu hoặc đồng bộ thông tin giữa các thiết bị.</a:t>
            </a:r>
          </a:p>
        </p:txBody>
      </p:sp>
      <p:sp>
        <p:nvSpPr>
          <p:cNvPr name="TextBox 13" id="13"/>
          <p:cNvSpPr txBox="true"/>
          <p:nvPr/>
        </p:nvSpPr>
        <p:spPr>
          <a:xfrm rot="0">
            <a:off x="1296249" y="3920495"/>
            <a:ext cx="11147530" cy="9334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  Firestore cho phép ngườ</a:t>
            </a:r>
            <a:r>
              <a:rPr lang="en-US" sz="3000">
                <a:solidFill>
                  <a:srgbClr val="000000"/>
                </a:solidFill>
                <a:latin typeface="Roboto"/>
                <a:ea typeface="Roboto"/>
                <a:cs typeface="Roboto"/>
                <a:sym typeface="Roboto"/>
              </a:rPr>
              <a:t>i dùng xác thực thông qua nhiều phương thức khác nhau, nhưng chủ yếu sẽ là đăng nhập bằng 2 cách: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37402" y="2858414"/>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6958042" y="4132911"/>
            <a:ext cx="10204777" cy="5220638"/>
          </a:xfrm>
          <a:custGeom>
            <a:avLst/>
            <a:gdLst/>
            <a:ahLst/>
            <a:cxnLst/>
            <a:rect r="r" b="b" t="t" l="l"/>
            <a:pathLst>
              <a:path h="5220638" w="10204777">
                <a:moveTo>
                  <a:pt x="0" y="0"/>
                </a:moveTo>
                <a:lnTo>
                  <a:pt x="10204776" y="0"/>
                </a:lnTo>
                <a:lnTo>
                  <a:pt x="10204776" y="5220637"/>
                </a:lnTo>
                <a:lnTo>
                  <a:pt x="0" y="5220637"/>
                </a:lnTo>
                <a:lnTo>
                  <a:pt x="0" y="0"/>
                </a:lnTo>
                <a:close/>
              </a:path>
            </a:pathLst>
          </a:custGeom>
          <a:blipFill>
            <a:blip r:embed="rId7"/>
            <a:stretch>
              <a:fillRect l="-471" t="-1076" r="-471" b="-2019"/>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Xác thực</a:t>
            </a:r>
          </a:p>
        </p:txBody>
      </p:sp>
      <p:sp>
        <p:nvSpPr>
          <p:cNvPr name="TextBox 13" id="13"/>
          <p:cNvSpPr txBox="true"/>
          <p:nvPr/>
        </p:nvSpPr>
        <p:spPr>
          <a:xfrm rot="0">
            <a:off x="737402" y="4777745"/>
            <a:ext cx="5675921" cy="4267199"/>
          </a:xfrm>
          <a:prstGeom prst="rect">
            <a:avLst/>
          </a:prstGeom>
        </p:spPr>
        <p:txBody>
          <a:bodyPr anchor="t" rtlCol="false" tIns="0" lIns="0" bIns="0" rIns="0">
            <a:spAutoFit/>
          </a:bodyPr>
          <a:lstStyle/>
          <a:p>
            <a:pPr algn="l" marL="647705" indent="-323852" lvl="1">
              <a:lnSpc>
                <a:spcPts val="4200"/>
              </a:lnSpc>
              <a:buAutoNum type="arabicPeriod" startAt="1"/>
            </a:pPr>
            <a:r>
              <a:rPr lang="en-US" sz="3000" spc="-246">
                <a:solidFill>
                  <a:srgbClr val="000000"/>
                </a:solidFill>
                <a:latin typeface="Roboto"/>
                <a:ea typeface="Roboto"/>
                <a:cs typeface="Roboto"/>
                <a:sym typeface="Roboto"/>
              </a:rPr>
              <a:t>Ở trang chính của Project Overview FireBase, vào mục build ở dưới chọn Authentication.</a:t>
            </a:r>
          </a:p>
          <a:p>
            <a:pPr algn="l" marL="647705" indent="-323852" lvl="1">
              <a:lnSpc>
                <a:spcPts val="4200"/>
              </a:lnSpc>
              <a:buAutoNum type="arabicPeriod" startAt="1"/>
            </a:pPr>
            <a:r>
              <a:rPr lang="en-US" sz="3000" spc="-246">
                <a:solidFill>
                  <a:srgbClr val="000000"/>
                </a:solidFill>
                <a:latin typeface="Roboto"/>
                <a:ea typeface="Roboto"/>
                <a:cs typeface="Roboto"/>
                <a:sym typeface="Roboto"/>
              </a:rPr>
              <a:t>Vào mục Sign-in Method tiếp đến chọn Add new provider, tại đây ta sẽ được chọn các hình thức đăng nhập mong muốn.</a:t>
            </a:r>
          </a:p>
          <a:p>
            <a:pPr algn="l">
              <a:lnSpc>
                <a:spcPts val="4200"/>
              </a:lnSpc>
              <a:spcBef>
                <a:spcPct val="0"/>
              </a:spcBef>
            </a:pPr>
          </a:p>
        </p:txBody>
      </p:sp>
      <p:sp>
        <p:nvSpPr>
          <p:cNvPr name="TextBox 14" id="14"/>
          <p:cNvSpPr txBox="true"/>
          <p:nvPr/>
        </p:nvSpPr>
        <p:spPr>
          <a:xfrm rot="0">
            <a:off x="1028700" y="2993885"/>
            <a:ext cx="16230600" cy="476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 Để kích hoạt</a:t>
            </a:r>
            <a:r>
              <a:rPr lang="en-US" sz="3000">
                <a:solidFill>
                  <a:srgbClr val="000000"/>
                </a:solidFill>
                <a:latin typeface="Roboto"/>
                <a:ea typeface="Roboto"/>
                <a:cs typeface="Roboto"/>
                <a:sym typeface="Roboto"/>
              </a:rPr>
              <a:t> xác thực, ta cần kết hợp cấu hình ở Firebase Console và Google Cloud Console: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891031"/>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6113126" y="3976963"/>
            <a:ext cx="11594421" cy="4826178"/>
          </a:xfrm>
          <a:custGeom>
            <a:avLst/>
            <a:gdLst/>
            <a:ahLst/>
            <a:cxnLst/>
            <a:rect r="r" b="b" t="t" l="l"/>
            <a:pathLst>
              <a:path h="4826178" w="11594421">
                <a:moveTo>
                  <a:pt x="0" y="0"/>
                </a:moveTo>
                <a:lnTo>
                  <a:pt x="11594421" y="0"/>
                </a:lnTo>
                <a:lnTo>
                  <a:pt x="11594421" y="4826178"/>
                </a:lnTo>
                <a:lnTo>
                  <a:pt x="0" y="4826178"/>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Xác thực</a:t>
            </a:r>
          </a:p>
        </p:txBody>
      </p:sp>
      <p:sp>
        <p:nvSpPr>
          <p:cNvPr name="TextBox 13" id="13"/>
          <p:cNvSpPr txBox="true"/>
          <p:nvPr/>
        </p:nvSpPr>
        <p:spPr>
          <a:xfrm rot="0">
            <a:off x="895970" y="4485052"/>
            <a:ext cx="4889259" cy="3733799"/>
          </a:xfrm>
          <a:prstGeom prst="rect">
            <a:avLst/>
          </a:prstGeom>
        </p:spPr>
        <p:txBody>
          <a:bodyPr anchor="t" rtlCol="false" tIns="0" lIns="0" bIns="0" rIns="0">
            <a:spAutoFit/>
          </a:bodyPr>
          <a:lstStyle/>
          <a:p>
            <a:pPr algn="l">
              <a:lnSpc>
                <a:spcPts val="4200"/>
              </a:lnSpc>
            </a:pPr>
            <a:r>
              <a:rPr lang="en-US" sz="3000" spc="-246">
                <a:solidFill>
                  <a:srgbClr val="000000"/>
                </a:solidFill>
                <a:latin typeface="Roboto"/>
                <a:ea typeface="Roboto"/>
                <a:cs typeface="Roboto"/>
                <a:sym typeface="Roboto"/>
              </a:rPr>
              <a:t>   3. Sau khi chọn xong. Tiếp đó sẽ là đăng nhập vào GoogleCloud và chọn project của mình đã tạo ở FireBase.</a:t>
            </a:r>
          </a:p>
          <a:p>
            <a:pPr algn="l">
              <a:lnSpc>
                <a:spcPts val="4200"/>
              </a:lnSpc>
            </a:pPr>
            <a:r>
              <a:rPr lang="en-US" sz="3000" spc="-246">
                <a:solidFill>
                  <a:srgbClr val="000000"/>
                </a:solidFill>
                <a:latin typeface="Roboto"/>
                <a:ea typeface="Roboto"/>
                <a:cs typeface="Roboto"/>
                <a:sym typeface="Roboto"/>
              </a:rPr>
              <a:t>   4. </a:t>
            </a:r>
            <a:r>
              <a:rPr lang="en-US" sz="3000" spc="-246">
                <a:solidFill>
                  <a:srgbClr val="000000"/>
                </a:solidFill>
                <a:latin typeface="Roboto"/>
                <a:ea typeface="Roboto"/>
                <a:cs typeface="Roboto"/>
                <a:sym typeface="Roboto"/>
              </a:rPr>
              <a:t>Vào mục APIs &amp; Services, tiếp theo đó là Credential.</a:t>
            </a:r>
          </a:p>
          <a:p>
            <a:pPr algn="l">
              <a:lnSpc>
                <a:spcPts val="420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891031"/>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205673" y="3013452"/>
            <a:ext cx="7566611" cy="6753200"/>
          </a:xfrm>
          <a:custGeom>
            <a:avLst/>
            <a:gdLst/>
            <a:ahLst/>
            <a:cxnLst/>
            <a:rect r="r" b="b" t="t" l="l"/>
            <a:pathLst>
              <a:path h="6753200" w="7566611">
                <a:moveTo>
                  <a:pt x="0" y="0"/>
                </a:moveTo>
                <a:lnTo>
                  <a:pt x="7566611" y="0"/>
                </a:lnTo>
                <a:lnTo>
                  <a:pt x="7566611" y="6753200"/>
                </a:lnTo>
                <a:lnTo>
                  <a:pt x="0" y="6753200"/>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Xác thực</a:t>
            </a:r>
          </a:p>
        </p:txBody>
      </p:sp>
      <p:sp>
        <p:nvSpPr>
          <p:cNvPr name="TextBox 13" id="13"/>
          <p:cNvSpPr txBox="true"/>
          <p:nvPr/>
        </p:nvSpPr>
        <p:spPr>
          <a:xfrm rot="0">
            <a:off x="895970" y="4526853"/>
            <a:ext cx="6129764" cy="2666999"/>
          </a:xfrm>
          <a:prstGeom prst="rect">
            <a:avLst/>
          </a:prstGeom>
        </p:spPr>
        <p:txBody>
          <a:bodyPr anchor="t" rtlCol="false" tIns="0" lIns="0" bIns="0" rIns="0">
            <a:spAutoFit/>
          </a:bodyPr>
          <a:lstStyle/>
          <a:p>
            <a:pPr algn="l">
              <a:lnSpc>
                <a:spcPts val="4200"/>
              </a:lnSpc>
            </a:pPr>
            <a:r>
              <a:rPr lang="en-US" sz="3000" spc="-246">
                <a:solidFill>
                  <a:srgbClr val="000000"/>
                </a:solidFill>
                <a:latin typeface="Roboto"/>
                <a:ea typeface="Roboto"/>
                <a:cs typeface="Roboto"/>
                <a:sym typeface="Roboto"/>
              </a:rPr>
              <a:t>5. Ở phần OAuth 2.0 Client IDs FireBase đã tạo sẵn copy Client ID lại.</a:t>
            </a:r>
          </a:p>
          <a:p>
            <a:pPr algn="l">
              <a:lnSpc>
                <a:spcPts val="4200"/>
              </a:lnSpc>
            </a:pPr>
            <a:r>
              <a:rPr lang="en-US" sz="3000" spc="-246">
                <a:solidFill>
                  <a:srgbClr val="000000"/>
                </a:solidFill>
                <a:latin typeface="Roboto"/>
                <a:ea typeface="Roboto"/>
                <a:cs typeface="Roboto"/>
                <a:sym typeface="Roboto"/>
              </a:rPr>
              <a:t>6. </a:t>
            </a:r>
            <a:r>
              <a:rPr lang="en-US" sz="3000" spc="-246">
                <a:solidFill>
                  <a:srgbClr val="000000"/>
                </a:solidFill>
                <a:latin typeface="Roboto"/>
                <a:ea typeface="Roboto"/>
                <a:cs typeface="Roboto"/>
                <a:sym typeface="Roboto"/>
              </a:rPr>
              <a:t>Trong lib tạo file</a:t>
            </a:r>
            <a:r>
              <a:rPr lang="en-US" sz="3000" spc="-246">
                <a:solidFill>
                  <a:srgbClr val="000000"/>
                </a:solidFill>
                <a:latin typeface="Roboto"/>
                <a:ea typeface="Roboto"/>
                <a:cs typeface="Roboto"/>
                <a:sym typeface="Roboto"/>
              </a:rPr>
              <a:t> mới l</a:t>
            </a:r>
            <a:r>
              <a:rPr lang="en-US" sz="3000" spc="-246">
                <a:solidFill>
                  <a:srgbClr val="000000"/>
                </a:solidFill>
                <a:latin typeface="Roboto"/>
                <a:ea typeface="Roboto"/>
                <a:cs typeface="Roboto"/>
                <a:sym typeface="Roboto"/>
              </a:rPr>
              <a:t>à auth_service.dart đó chính là phần quản lý đăng nhập.</a:t>
            </a:r>
          </a:p>
          <a:p>
            <a:pPr algn="l">
              <a:lnSpc>
                <a:spcPts val="420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981799"/>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483433" y="3154508"/>
            <a:ext cx="6945703" cy="6199040"/>
          </a:xfrm>
          <a:custGeom>
            <a:avLst/>
            <a:gdLst/>
            <a:ahLst/>
            <a:cxnLst/>
            <a:rect r="r" b="b" t="t" l="l"/>
            <a:pathLst>
              <a:path h="6199040" w="6945703">
                <a:moveTo>
                  <a:pt x="0" y="0"/>
                </a:moveTo>
                <a:lnTo>
                  <a:pt x="6945704" y="0"/>
                </a:lnTo>
                <a:lnTo>
                  <a:pt x="6945704" y="6199040"/>
                </a:lnTo>
                <a:lnTo>
                  <a:pt x="0" y="6199040"/>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Xác thực</a:t>
            </a:r>
          </a:p>
        </p:txBody>
      </p:sp>
      <p:sp>
        <p:nvSpPr>
          <p:cNvPr name="TextBox 13" id="13"/>
          <p:cNvSpPr txBox="true"/>
          <p:nvPr/>
        </p:nvSpPr>
        <p:spPr>
          <a:xfrm rot="0">
            <a:off x="389456" y="4250657"/>
            <a:ext cx="8538962" cy="5892013"/>
          </a:xfrm>
          <a:prstGeom prst="rect">
            <a:avLst/>
          </a:prstGeom>
        </p:spPr>
        <p:txBody>
          <a:bodyPr anchor="t" rtlCol="false" tIns="0" lIns="0" bIns="0" rIns="0">
            <a:spAutoFit/>
          </a:bodyPr>
          <a:lstStyle/>
          <a:p>
            <a:pPr algn="l" marL="596575" indent="-298288" lvl="1">
              <a:lnSpc>
                <a:spcPts val="3868"/>
              </a:lnSpc>
              <a:buFont typeface="Arial"/>
              <a:buChar char="•"/>
            </a:pPr>
            <a:r>
              <a:rPr lang="en-US" sz="2763" spc="-226">
                <a:solidFill>
                  <a:srgbClr val="000000"/>
                </a:solidFill>
                <a:latin typeface="Roboto"/>
                <a:ea typeface="Roboto"/>
                <a:cs typeface="Roboto"/>
                <a:sym typeface="Roboto"/>
              </a:rPr>
              <a:t>GoogleSignIn: Lệnh để kích hoạt quy trình đăng nhập bằng Google.</a:t>
            </a:r>
          </a:p>
          <a:p>
            <a:pPr algn="l" marL="596575" indent="-298288" lvl="1">
              <a:lnSpc>
                <a:spcPts val="3868"/>
              </a:lnSpc>
              <a:buFont typeface="Arial"/>
              <a:buChar char="•"/>
            </a:pPr>
            <a:r>
              <a:rPr lang="en-US" sz="2763" spc="-226">
                <a:solidFill>
                  <a:srgbClr val="000000"/>
                </a:solidFill>
                <a:latin typeface="Roboto"/>
                <a:ea typeface="Roboto"/>
                <a:cs typeface="Roboto"/>
                <a:sym typeface="Roboto"/>
              </a:rPr>
              <a:t>ClientID: Chính là nơi ta gán ClientID lấy được từ GoogleCloud.</a:t>
            </a:r>
          </a:p>
          <a:p>
            <a:pPr algn="l" marL="596575" indent="-298288" lvl="1">
              <a:lnSpc>
                <a:spcPts val="3868"/>
              </a:lnSpc>
              <a:buFont typeface="Arial"/>
              <a:buChar char="•"/>
            </a:pPr>
            <a:r>
              <a:rPr lang="en-US" sz="2763" spc="-226">
                <a:solidFill>
                  <a:srgbClr val="000000"/>
                </a:solidFill>
                <a:latin typeface="Roboto"/>
                <a:ea typeface="Roboto"/>
                <a:cs typeface="Roboto"/>
                <a:sym typeface="Roboto"/>
              </a:rPr>
              <a:t>GoogleAuthProvider.credential(): Tạo chứng chỉ (credential) để xác thực với Firebase.</a:t>
            </a:r>
          </a:p>
          <a:p>
            <a:pPr algn="l" marL="596575" indent="-298288" lvl="1">
              <a:lnSpc>
                <a:spcPts val="3868"/>
              </a:lnSpc>
              <a:buFont typeface="Arial"/>
              <a:buChar char="•"/>
            </a:pPr>
            <a:r>
              <a:rPr lang="en-US" sz="2763" spc="-226">
                <a:solidFill>
                  <a:srgbClr val="000000"/>
                </a:solidFill>
                <a:latin typeface="Roboto"/>
                <a:ea typeface="Roboto"/>
                <a:cs typeface="Roboto"/>
                <a:sym typeface="Roboto"/>
              </a:rPr>
              <a:t>  FirebaseAuth.signInWithCredential(): Đăng nhập vào Firebase bằng thông tin Google.</a:t>
            </a:r>
          </a:p>
          <a:p>
            <a:pPr algn="l" marL="596575" indent="-298288" lvl="1">
              <a:lnSpc>
                <a:spcPts val="3868"/>
              </a:lnSpc>
              <a:buFont typeface="Arial"/>
              <a:buChar char="•"/>
            </a:pPr>
            <a:r>
              <a:rPr lang="en-US" sz="2763" spc="-226">
                <a:solidFill>
                  <a:srgbClr val="000000"/>
                </a:solidFill>
                <a:latin typeface="Roboto"/>
                <a:ea typeface="Roboto"/>
                <a:cs typeface="Roboto"/>
                <a:sym typeface="Roboto"/>
              </a:rPr>
              <a:t>signInAnonymously(): Đăng nhập mà không cần tài khoản</a:t>
            </a:r>
          </a:p>
          <a:p>
            <a:pPr algn="l" marL="596575" indent="-298288" lvl="1">
              <a:lnSpc>
                <a:spcPts val="3868"/>
              </a:lnSpc>
              <a:buFont typeface="Arial"/>
              <a:buChar char="•"/>
            </a:pPr>
            <a:r>
              <a:rPr lang="en-US" sz="2763" spc="-226">
                <a:solidFill>
                  <a:srgbClr val="000000"/>
                </a:solidFill>
                <a:latin typeface="Roboto"/>
                <a:ea typeface="Roboto"/>
                <a:cs typeface="Roboto"/>
                <a:sym typeface="Roboto"/>
              </a:rPr>
              <a:t>signOut(): Đăng xuất đồng thời khỏi Firebase và Google</a:t>
            </a:r>
          </a:p>
          <a:p>
            <a:pPr algn="l" marL="596575" indent="-298288" lvl="1">
              <a:lnSpc>
                <a:spcPts val="3868"/>
              </a:lnSpc>
              <a:buFont typeface="Arial"/>
              <a:buChar char="•"/>
            </a:pPr>
            <a:r>
              <a:rPr lang="en-US" sz="2763" spc="-226">
                <a:solidFill>
                  <a:srgbClr val="000000"/>
                </a:solidFill>
                <a:latin typeface="Roboto"/>
                <a:ea typeface="Roboto"/>
                <a:cs typeface="Roboto"/>
                <a:sym typeface="Roboto"/>
              </a:rPr>
              <a:t> userChanges: Stream theo dõi trạng thái người dùng (đăng nhập/đăng xuất)</a:t>
            </a:r>
          </a:p>
          <a:p>
            <a:pPr algn="l">
              <a:lnSpc>
                <a:spcPts val="3868"/>
              </a:lnSpc>
              <a:spcBef>
                <a:spcPct val="0"/>
              </a:spcBef>
            </a:pPr>
          </a:p>
        </p:txBody>
      </p:sp>
      <p:sp>
        <p:nvSpPr>
          <p:cNvPr name="TextBox 14" id="14"/>
          <p:cNvSpPr txBox="true"/>
          <p:nvPr/>
        </p:nvSpPr>
        <p:spPr>
          <a:xfrm rot="0">
            <a:off x="624800" y="3431507"/>
            <a:ext cx="4512320" cy="552450"/>
          </a:xfrm>
          <a:prstGeom prst="rect">
            <a:avLst/>
          </a:prstGeom>
        </p:spPr>
        <p:txBody>
          <a:bodyPr anchor="t" rtlCol="false" tIns="0" lIns="0" bIns="0" rIns="0">
            <a:spAutoFit/>
          </a:bodyPr>
          <a:lstStyle/>
          <a:p>
            <a:pPr algn="ctr">
              <a:lnSpc>
                <a:spcPts val="4200"/>
              </a:lnSpc>
              <a:spcBef>
                <a:spcPct val="0"/>
              </a:spcBef>
            </a:pPr>
            <a:r>
              <a:rPr lang="en-US" sz="3500">
                <a:solidFill>
                  <a:srgbClr val="000000"/>
                </a:solidFill>
                <a:latin typeface="Roboto"/>
                <a:ea typeface="Roboto"/>
                <a:cs typeface="Roboto"/>
                <a:sym typeface="Roboto"/>
              </a:rPr>
              <a:t>Tổng quan về các lệnh: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908900" y="3235000"/>
            <a:ext cx="121908" cy="121908"/>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5" id="5"/>
          <p:cNvGrpSpPr/>
          <p:nvPr/>
        </p:nvGrpSpPr>
        <p:grpSpPr>
          <a:xfrm rot="0">
            <a:off x="10055579" y="7995212"/>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7" id="7"/>
          <p:cNvGrpSpPr/>
          <p:nvPr/>
        </p:nvGrpSpPr>
        <p:grpSpPr>
          <a:xfrm rot="0">
            <a:off x="6873127" y="7799872"/>
            <a:ext cx="4541746" cy="2163680"/>
            <a:chOff x="0" y="0"/>
            <a:chExt cx="1892461" cy="901566"/>
          </a:xfrm>
        </p:grpSpPr>
        <p:sp>
          <p:nvSpPr>
            <p:cNvPr name="Freeform 8" id="8"/>
            <p:cNvSpPr/>
            <p:nvPr/>
          </p:nvSpPr>
          <p:spPr>
            <a:xfrm flipH="false" flipV="false" rot="0">
              <a:off x="0" y="0"/>
              <a:ext cx="1892461" cy="901566"/>
            </a:xfrm>
            <a:custGeom>
              <a:avLst/>
              <a:gdLst/>
              <a:ahLst/>
              <a:cxnLst/>
              <a:rect r="r" b="b" t="t" l="l"/>
              <a:pathLst>
                <a:path h="901566" w="1892461">
                  <a:moveTo>
                    <a:pt x="0" y="0"/>
                  </a:moveTo>
                  <a:lnTo>
                    <a:pt x="1892461" y="0"/>
                  </a:lnTo>
                  <a:lnTo>
                    <a:pt x="1892461" y="901566"/>
                  </a:lnTo>
                  <a:lnTo>
                    <a:pt x="0" y="901566"/>
                  </a:lnTo>
                  <a:close/>
                </a:path>
              </a:pathLst>
            </a:custGeom>
            <a:solidFill>
              <a:srgbClr val="FFFFFF"/>
            </a:solidFill>
          </p:spPr>
        </p:sp>
      </p:grpSp>
      <p:grpSp>
        <p:nvGrpSpPr>
          <p:cNvPr name="Group 9" id="9"/>
          <p:cNvGrpSpPr/>
          <p:nvPr/>
        </p:nvGrpSpPr>
        <p:grpSpPr>
          <a:xfrm rot="0">
            <a:off x="804034" y="672702"/>
            <a:ext cx="16679931" cy="9112844"/>
            <a:chOff x="0" y="0"/>
            <a:chExt cx="6950218" cy="3797153"/>
          </a:xfrm>
        </p:grpSpPr>
        <p:sp>
          <p:nvSpPr>
            <p:cNvPr name="Freeform 10" id="10"/>
            <p:cNvSpPr/>
            <p:nvPr/>
          </p:nvSpPr>
          <p:spPr>
            <a:xfrm flipH="false" flipV="false" rot="0">
              <a:off x="0" y="0"/>
              <a:ext cx="6950218" cy="3797153"/>
            </a:xfrm>
            <a:custGeom>
              <a:avLst/>
              <a:gdLst/>
              <a:ahLst/>
              <a:cxnLst/>
              <a:rect r="r" b="b" t="t" l="l"/>
              <a:pathLst>
                <a:path h="3797153" w="6950218">
                  <a:moveTo>
                    <a:pt x="0" y="0"/>
                  </a:moveTo>
                  <a:lnTo>
                    <a:pt x="6950218" y="0"/>
                  </a:lnTo>
                  <a:lnTo>
                    <a:pt x="6950218" y="3797153"/>
                  </a:lnTo>
                  <a:lnTo>
                    <a:pt x="0" y="3797153"/>
                  </a:lnTo>
                  <a:close/>
                </a:path>
              </a:pathLst>
            </a:custGeom>
            <a:solidFill>
              <a:srgbClr val="FFFFFF"/>
            </a:solidFill>
          </p:spPr>
        </p:sp>
      </p:grpSp>
      <p:sp>
        <p:nvSpPr>
          <p:cNvPr name="Freeform 11" id="11"/>
          <p:cNvSpPr/>
          <p:nvPr/>
        </p:nvSpPr>
        <p:spPr>
          <a:xfrm flipH="false" flipV="false" rot="0">
            <a:off x="13414943" y="1243644"/>
            <a:ext cx="3844357" cy="1052393"/>
          </a:xfrm>
          <a:custGeom>
            <a:avLst/>
            <a:gdLst/>
            <a:ahLst/>
            <a:cxnLst/>
            <a:rect r="r" b="b" t="t" l="l"/>
            <a:pathLst>
              <a:path h="1052393" w="3844357">
                <a:moveTo>
                  <a:pt x="0" y="0"/>
                </a:moveTo>
                <a:lnTo>
                  <a:pt x="3844357" y="0"/>
                </a:lnTo>
                <a:lnTo>
                  <a:pt x="3844357" y="1052392"/>
                </a:lnTo>
                <a:lnTo>
                  <a:pt x="0" y="1052392"/>
                </a:lnTo>
                <a:lnTo>
                  <a:pt x="0" y="0"/>
                </a:lnTo>
                <a:close/>
              </a:path>
            </a:pathLst>
          </a:custGeom>
          <a:blipFill>
            <a:blip r:embed="rId3"/>
            <a:stretch>
              <a:fillRect l="0" t="0" r="0" b="0"/>
            </a:stretch>
          </a:blipFill>
        </p:spPr>
      </p:sp>
      <p:sp>
        <p:nvSpPr>
          <p:cNvPr name="Freeform 12" id="12"/>
          <p:cNvSpPr/>
          <p:nvPr/>
        </p:nvSpPr>
        <p:spPr>
          <a:xfrm flipH="false" flipV="false" rot="0">
            <a:off x="6337570" y="7470563"/>
            <a:ext cx="4429556" cy="2034329"/>
          </a:xfrm>
          <a:custGeom>
            <a:avLst/>
            <a:gdLst/>
            <a:ahLst/>
            <a:cxnLst/>
            <a:rect r="r" b="b" t="t" l="l"/>
            <a:pathLst>
              <a:path h="2034329" w="4429556">
                <a:moveTo>
                  <a:pt x="0" y="0"/>
                </a:moveTo>
                <a:lnTo>
                  <a:pt x="4429556" y="0"/>
                </a:lnTo>
                <a:lnTo>
                  <a:pt x="4429556" y="2034329"/>
                </a:lnTo>
                <a:lnTo>
                  <a:pt x="0" y="2034329"/>
                </a:lnTo>
                <a:lnTo>
                  <a:pt x="0" y="0"/>
                </a:lnTo>
                <a:close/>
              </a:path>
            </a:pathLst>
          </a:custGeom>
          <a:blipFill>
            <a:blip r:embed="rId4"/>
            <a:stretch>
              <a:fillRect l="-11650" t="-10103" r="-14980" b="-6735"/>
            </a:stretch>
          </a:blipFill>
        </p:spPr>
      </p:sp>
      <p:sp>
        <p:nvSpPr>
          <p:cNvPr name="Freeform 13" id="13"/>
          <p:cNvSpPr/>
          <p:nvPr/>
        </p:nvSpPr>
        <p:spPr>
          <a:xfrm flipH="false" flipV="false" rot="0">
            <a:off x="544612" y="526196"/>
            <a:ext cx="6064349" cy="2487287"/>
          </a:xfrm>
          <a:custGeom>
            <a:avLst/>
            <a:gdLst/>
            <a:ahLst/>
            <a:cxnLst/>
            <a:rect r="r" b="b" t="t" l="l"/>
            <a:pathLst>
              <a:path h="2487287" w="6064349">
                <a:moveTo>
                  <a:pt x="0" y="0"/>
                </a:moveTo>
                <a:lnTo>
                  <a:pt x="6064349" y="0"/>
                </a:lnTo>
                <a:lnTo>
                  <a:pt x="6064349" y="2487287"/>
                </a:lnTo>
                <a:lnTo>
                  <a:pt x="0" y="2487287"/>
                </a:lnTo>
                <a:lnTo>
                  <a:pt x="0" y="0"/>
                </a:lnTo>
                <a:close/>
              </a:path>
            </a:pathLst>
          </a:custGeom>
          <a:blipFill>
            <a:blip r:embed="rId5"/>
            <a:stretch>
              <a:fillRect l="0" t="-10953" r="0" b="-10953"/>
            </a:stretch>
          </a:blipFill>
        </p:spPr>
      </p:sp>
      <p:sp>
        <p:nvSpPr>
          <p:cNvPr name="Freeform 14" id="14"/>
          <p:cNvSpPr/>
          <p:nvPr/>
        </p:nvSpPr>
        <p:spPr>
          <a:xfrm flipH="false" flipV="false" rot="-278358">
            <a:off x="12662556" y="8722038"/>
            <a:ext cx="5868613" cy="1845945"/>
          </a:xfrm>
          <a:custGeom>
            <a:avLst/>
            <a:gdLst/>
            <a:ahLst/>
            <a:cxnLst/>
            <a:rect r="r" b="b" t="t" l="l"/>
            <a:pathLst>
              <a:path h="1845945" w="5868613">
                <a:moveTo>
                  <a:pt x="0" y="0"/>
                </a:moveTo>
                <a:lnTo>
                  <a:pt x="5868613" y="0"/>
                </a:lnTo>
                <a:lnTo>
                  <a:pt x="5868613" y="1845945"/>
                </a:lnTo>
                <a:lnTo>
                  <a:pt x="0" y="1845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278358">
            <a:off x="30544" y="92749"/>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556651" y="3609762"/>
            <a:ext cx="13643669" cy="3489326"/>
          </a:xfrm>
          <a:prstGeom prst="rect">
            <a:avLst/>
          </a:prstGeom>
        </p:spPr>
        <p:txBody>
          <a:bodyPr anchor="t" rtlCol="false" tIns="0" lIns="0" bIns="0" rIns="0">
            <a:spAutoFit/>
          </a:bodyPr>
          <a:lstStyle/>
          <a:p>
            <a:pPr algn="ctr">
              <a:lnSpc>
                <a:spcPts val="13999"/>
              </a:lnSpc>
              <a:spcBef>
                <a:spcPct val="0"/>
              </a:spcBef>
            </a:pPr>
            <a:r>
              <a:rPr lang="en-US" b="true" sz="9999" spc="-819">
                <a:solidFill>
                  <a:srgbClr val="003EA8"/>
                </a:solidFill>
                <a:latin typeface="Roboto Bold"/>
                <a:ea typeface="Roboto Bold"/>
                <a:cs typeface="Roboto Bold"/>
                <a:sym typeface="Roboto Bold"/>
              </a:rPr>
              <a:t>Truy vấn phức</a:t>
            </a:r>
            <a:r>
              <a:rPr lang="en-US" b="true" sz="9999" spc="-819">
                <a:solidFill>
                  <a:srgbClr val="003EA8"/>
                </a:solidFill>
                <a:latin typeface="Roboto Bold"/>
                <a:ea typeface="Roboto Bold"/>
                <a:cs typeface="Roboto Bold"/>
                <a:sym typeface="Roboto Bold"/>
              </a:rPr>
              <a:t> tạp với Where, OrderBy và limit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755007"/>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681742" y="4788135"/>
            <a:ext cx="11606272" cy="2009396"/>
          </a:xfrm>
          <a:custGeom>
            <a:avLst/>
            <a:gdLst/>
            <a:ahLst/>
            <a:cxnLst/>
            <a:rect r="r" b="b" t="t" l="l"/>
            <a:pathLst>
              <a:path h="2009396" w="11606272">
                <a:moveTo>
                  <a:pt x="0" y="0"/>
                </a:moveTo>
                <a:lnTo>
                  <a:pt x="11606272" y="0"/>
                </a:lnTo>
                <a:lnTo>
                  <a:pt x="11606272" y="2009396"/>
                </a:lnTo>
                <a:lnTo>
                  <a:pt x="0" y="2009396"/>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Thiết lập truy vấn</a:t>
            </a:r>
          </a:p>
        </p:txBody>
      </p:sp>
      <p:sp>
        <p:nvSpPr>
          <p:cNvPr name="TextBox 13" id="13"/>
          <p:cNvSpPr txBox="true"/>
          <p:nvPr/>
        </p:nvSpPr>
        <p:spPr>
          <a:xfrm rot="0">
            <a:off x="4104338" y="7444745"/>
            <a:ext cx="11852020" cy="1600200"/>
          </a:xfrm>
          <a:prstGeom prst="rect">
            <a:avLst/>
          </a:prstGeom>
        </p:spPr>
        <p:txBody>
          <a:bodyPr anchor="t" rtlCol="false" tIns="0" lIns="0" bIns="0" rIns="0">
            <a:spAutoFit/>
          </a:bodyPr>
          <a:lstStyle/>
          <a:p>
            <a:pPr algn="l" marL="647700" indent="-323850" lvl="1">
              <a:lnSpc>
                <a:spcPts val="4200"/>
              </a:lnSpc>
              <a:buFont typeface="Arial"/>
              <a:buChar char="•"/>
            </a:pPr>
            <a:r>
              <a:rPr lang="en-US" sz="3000" spc="-246">
                <a:solidFill>
                  <a:srgbClr val="000000"/>
                </a:solidFill>
                <a:latin typeface="Roboto"/>
                <a:ea typeface="Roboto"/>
                <a:cs typeface="Roboto"/>
                <a:sym typeface="Roboto"/>
              </a:rPr>
              <a:t>FirebaseFirestore.instance: truy cập Firestore instance.</a:t>
            </a:r>
          </a:p>
          <a:p>
            <a:pPr algn="l" marL="647700" indent="-323850" lvl="1">
              <a:lnSpc>
                <a:spcPts val="4200"/>
              </a:lnSpc>
              <a:buFont typeface="Arial"/>
              <a:buChar char="•"/>
            </a:pPr>
            <a:r>
              <a:rPr lang="en-US" sz="3000" spc="-246">
                <a:solidFill>
                  <a:srgbClr val="000000"/>
                </a:solidFill>
                <a:latin typeface="Roboto"/>
                <a:ea typeface="Roboto"/>
                <a:cs typeface="Roboto"/>
                <a:sym typeface="Roboto"/>
              </a:rPr>
              <a:t>.collection('products'): chỉ định collection products để thao tác CRUD và truy vấn.</a:t>
            </a:r>
          </a:p>
          <a:p>
            <a:pPr algn="l">
              <a:lnSpc>
                <a:spcPts val="4200"/>
              </a:lnSpc>
              <a:spcBef>
                <a:spcPct val="0"/>
              </a:spcBef>
            </a:pPr>
          </a:p>
        </p:txBody>
      </p:sp>
      <p:sp>
        <p:nvSpPr>
          <p:cNvPr name="TextBox 14" id="14"/>
          <p:cNvSpPr txBox="true"/>
          <p:nvPr/>
        </p:nvSpPr>
        <p:spPr>
          <a:xfrm rot="0">
            <a:off x="1028700" y="2958025"/>
            <a:ext cx="16230600" cy="13906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-Tạo file Firebase_service.dart sẽ đại diện cho function để sử dụng các chức năng của truy vấn.</a:t>
            </a:r>
          </a:p>
          <a:p>
            <a:pPr algn="l">
              <a:lnSpc>
                <a:spcPts val="3600"/>
              </a:lnSpc>
            </a:pPr>
            <a:r>
              <a:rPr lang="en-US" sz="3000">
                <a:solidFill>
                  <a:srgbClr val="000000"/>
                </a:solidFill>
                <a:latin typeface="Roboto"/>
                <a:ea typeface="Roboto"/>
                <a:cs typeface="Roboto"/>
                <a:sym typeface="Roboto"/>
              </a:rPr>
              <a:t>-Class FirestoreService sẽ kết nối tới collection products trong Firebase.</a:t>
            </a:r>
          </a:p>
          <a:p>
            <a:pPr algn="l">
              <a:lnSpc>
                <a:spcPts val="36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015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343966" y="4445827"/>
            <a:ext cx="11301259" cy="1808201"/>
          </a:xfrm>
          <a:custGeom>
            <a:avLst/>
            <a:gdLst/>
            <a:ahLst/>
            <a:cxnLst/>
            <a:rect r="r" b="b" t="t" l="l"/>
            <a:pathLst>
              <a:path h="1808201" w="11301259">
                <a:moveTo>
                  <a:pt x="0" y="0"/>
                </a:moveTo>
                <a:lnTo>
                  <a:pt x="11301259" y="0"/>
                </a:lnTo>
                <a:lnTo>
                  <a:pt x="11301259" y="1808201"/>
                </a:lnTo>
                <a:lnTo>
                  <a:pt x="0" y="1808201"/>
                </a:lnTo>
                <a:lnTo>
                  <a:pt x="0" y="0"/>
                </a:lnTo>
                <a:close/>
              </a:path>
            </a:pathLst>
          </a:custGeom>
          <a:blipFill>
            <a:blip r:embed="rId7"/>
            <a:stretch>
              <a:fillRect l="0" t="0" r="0" b="0"/>
            </a:stretch>
          </a:blipFill>
        </p:spPr>
      </p:sp>
      <p:sp>
        <p:nvSpPr>
          <p:cNvPr name="Freeform 12" id="12"/>
          <p:cNvSpPr/>
          <p:nvPr/>
        </p:nvSpPr>
        <p:spPr>
          <a:xfrm flipH="false" flipV="false" rot="0">
            <a:off x="1352253" y="7254153"/>
            <a:ext cx="7853420" cy="1838917"/>
          </a:xfrm>
          <a:custGeom>
            <a:avLst/>
            <a:gdLst/>
            <a:ahLst/>
            <a:cxnLst/>
            <a:rect r="r" b="b" t="t" l="l"/>
            <a:pathLst>
              <a:path h="1838917" w="7853420">
                <a:moveTo>
                  <a:pt x="0" y="0"/>
                </a:moveTo>
                <a:lnTo>
                  <a:pt x="7853420" y="0"/>
                </a:lnTo>
                <a:lnTo>
                  <a:pt x="7853420" y="1838917"/>
                </a:lnTo>
                <a:lnTo>
                  <a:pt x="0" y="1838917"/>
                </a:lnTo>
                <a:lnTo>
                  <a:pt x="0" y="0"/>
                </a:lnTo>
                <a:close/>
              </a:path>
            </a:pathLst>
          </a:custGeom>
          <a:blipFill>
            <a:blip r:embed="rId8"/>
            <a:stretch>
              <a:fillRect l="0" t="0" r="0" b="0"/>
            </a:stretch>
          </a:blipFill>
        </p:spPr>
      </p:sp>
      <p:sp>
        <p:nvSpPr>
          <p:cNvPr name="TextBox 13" id="13"/>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Các chức năng cơ bản</a:t>
            </a:r>
          </a:p>
        </p:txBody>
      </p:sp>
      <p:sp>
        <p:nvSpPr>
          <p:cNvPr name="TextBox 14" id="14"/>
          <p:cNvSpPr txBox="true"/>
          <p:nvPr/>
        </p:nvSpPr>
        <p:spPr>
          <a:xfrm rot="0">
            <a:off x="737402" y="2971787"/>
            <a:ext cx="16230600" cy="476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Firebase cũng có thể phục vụ các chức năng cơ bản đó là thêm, xóa và chỉnh sửa.</a:t>
            </a:r>
          </a:p>
        </p:txBody>
      </p:sp>
      <p:sp>
        <p:nvSpPr>
          <p:cNvPr name="TextBox 15" id="15"/>
          <p:cNvSpPr txBox="true"/>
          <p:nvPr/>
        </p:nvSpPr>
        <p:spPr>
          <a:xfrm rot="0">
            <a:off x="895970" y="3753513"/>
            <a:ext cx="3810418" cy="476250"/>
          </a:xfrm>
          <a:prstGeom prst="rect">
            <a:avLst/>
          </a:prstGeom>
        </p:spPr>
        <p:txBody>
          <a:bodyPr anchor="t" rtlCol="false" tIns="0" lIns="0" bIns="0" rIns="0">
            <a:spAutoFit/>
          </a:bodyPr>
          <a:lstStyle/>
          <a:p>
            <a:pPr algn="ctr">
              <a:lnSpc>
                <a:spcPts val="3600"/>
              </a:lnSpc>
            </a:pPr>
            <a:r>
              <a:rPr lang="en-US" sz="3000">
                <a:solidFill>
                  <a:srgbClr val="000000"/>
                </a:solidFill>
                <a:latin typeface="Roboto"/>
                <a:ea typeface="Roboto"/>
                <a:cs typeface="Roboto"/>
                <a:sym typeface="Roboto"/>
              </a:rPr>
              <a:t>-Thêm sản phẩm:</a:t>
            </a:r>
          </a:p>
        </p:txBody>
      </p:sp>
      <p:sp>
        <p:nvSpPr>
          <p:cNvPr name="TextBox 16" id="16"/>
          <p:cNvSpPr txBox="true"/>
          <p:nvPr/>
        </p:nvSpPr>
        <p:spPr>
          <a:xfrm rot="0">
            <a:off x="12757531" y="4345533"/>
            <a:ext cx="4763489" cy="2181225"/>
          </a:xfrm>
          <a:prstGeom prst="rect">
            <a:avLst/>
          </a:prstGeom>
        </p:spPr>
        <p:txBody>
          <a:bodyPr anchor="t" rtlCol="false" tIns="0" lIns="0" bIns="0" rIns="0">
            <a:spAutoFit/>
          </a:bodyPr>
          <a:lstStyle/>
          <a:p>
            <a:pPr algn="l" marL="518163" indent="-259082" lvl="1">
              <a:lnSpc>
                <a:spcPts val="2880"/>
              </a:lnSpc>
              <a:buFont typeface="Arial"/>
              <a:buChar char="•"/>
            </a:pPr>
            <a:r>
              <a:rPr lang="en-US" sz="2400">
                <a:solidFill>
                  <a:srgbClr val="000000"/>
                </a:solidFill>
                <a:latin typeface="Roboto"/>
                <a:ea typeface="Roboto"/>
                <a:cs typeface="Roboto"/>
                <a:sym typeface="Roboto"/>
              </a:rPr>
              <a:t>Trường category_lower: được thêm để lọc không phân biệt hoa/thường.</a:t>
            </a:r>
          </a:p>
          <a:p>
            <a:pPr algn="l" marL="518163" indent="-259082" lvl="1">
              <a:lnSpc>
                <a:spcPts val="2880"/>
              </a:lnSpc>
              <a:buFont typeface="Arial"/>
              <a:buChar char="•"/>
            </a:pPr>
            <a:r>
              <a:rPr lang="en-US" sz="2400">
                <a:solidFill>
                  <a:srgbClr val="000000"/>
                </a:solidFill>
                <a:latin typeface="Roboto"/>
                <a:ea typeface="Roboto"/>
                <a:cs typeface="Roboto"/>
                <a:sym typeface="Roboto"/>
              </a:rPr>
              <a:t>add(data): tạo một document mới trong collection products.</a:t>
            </a:r>
          </a:p>
          <a:p>
            <a:pPr algn="l">
              <a:lnSpc>
                <a:spcPts val="2880"/>
              </a:lnSpc>
              <a:spcBef>
                <a:spcPct val="0"/>
              </a:spcBef>
            </a:pPr>
          </a:p>
        </p:txBody>
      </p:sp>
      <p:sp>
        <p:nvSpPr>
          <p:cNvPr name="TextBox 17" id="17"/>
          <p:cNvSpPr txBox="true"/>
          <p:nvPr/>
        </p:nvSpPr>
        <p:spPr>
          <a:xfrm rot="0">
            <a:off x="760313" y="6454053"/>
            <a:ext cx="3810418" cy="476250"/>
          </a:xfrm>
          <a:prstGeom prst="rect">
            <a:avLst/>
          </a:prstGeom>
        </p:spPr>
        <p:txBody>
          <a:bodyPr anchor="t" rtlCol="false" tIns="0" lIns="0" bIns="0" rIns="0">
            <a:spAutoFit/>
          </a:bodyPr>
          <a:lstStyle/>
          <a:p>
            <a:pPr algn="ctr">
              <a:lnSpc>
                <a:spcPts val="3600"/>
              </a:lnSpc>
            </a:pPr>
            <a:r>
              <a:rPr lang="en-US" sz="3000">
                <a:solidFill>
                  <a:srgbClr val="000000"/>
                </a:solidFill>
                <a:latin typeface="Roboto"/>
                <a:ea typeface="Roboto"/>
                <a:cs typeface="Roboto"/>
                <a:sym typeface="Roboto"/>
              </a:rPr>
              <a:t>-Xoá sản phẩm:</a:t>
            </a:r>
          </a:p>
        </p:txBody>
      </p:sp>
      <p:sp>
        <p:nvSpPr>
          <p:cNvPr name="TextBox 18" id="18"/>
          <p:cNvSpPr txBox="true"/>
          <p:nvPr/>
        </p:nvSpPr>
        <p:spPr>
          <a:xfrm rot="0">
            <a:off x="9521233" y="7273795"/>
            <a:ext cx="4763489" cy="1819275"/>
          </a:xfrm>
          <a:prstGeom prst="rect">
            <a:avLst/>
          </a:prstGeom>
        </p:spPr>
        <p:txBody>
          <a:bodyPr anchor="t" rtlCol="false" tIns="0" lIns="0" bIns="0" rIns="0">
            <a:spAutoFit/>
          </a:bodyPr>
          <a:lstStyle/>
          <a:p>
            <a:pPr algn="l" marL="518163" indent="-259082" lvl="1">
              <a:lnSpc>
                <a:spcPts val="2880"/>
              </a:lnSpc>
              <a:buFont typeface="Arial"/>
              <a:buChar char="•"/>
            </a:pPr>
            <a:r>
              <a:rPr lang="en-US" sz="2400">
                <a:solidFill>
                  <a:srgbClr val="000000"/>
                </a:solidFill>
                <a:latin typeface="Roboto"/>
                <a:ea typeface="Roboto"/>
                <a:cs typeface="Roboto"/>
                <a:sym typeface="Roboto"/>
              </a:rPr>
              <a:t>doc(id): trỏ đến document có ID cụ thể trong FireStore.</a:t>
            </a:r>
          </a:p>
          <a:p>
            <a:pPr algn="l" marL="518163" indent="-259082" lvl="1">
              <a:lnSpc>
                <a:spcPts val="2880"/>
              </a:lnSpc>
              <a:buFont typeface="Arial"/>
              <a:buChar char="•"/>
            </a:pPr>
            <a:r>
              <a:rPr lang="en-US" sz="2400">
                <a:solidFill>
                  <a:srgbClr val="000000"/>
                </a:solidFill>
                <a:latin typeface="Roboto"/>
                <a:ea typeface="Roboto"/>
                <a:cs typeface="Roboto"/>
                <a:sym typeface="Roboto"/>
              </a:rPr>
              <a:t>delete(): xóa document đó khỏi Firestore.</a:t>
            </a:r>
          </a:p>
          <a:p>
            <a:pPr algn="l">
              <a:lnSpc>
                <a:spcPts val="288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265377" y="4883124"/>
            <a:ext cx="11845613" cy="1969333"/>
          </a:xfrm>
          <a:custGeom>
            <a:avLst/>
            <a:gdLst/>
            <a:ahLst/>
            <a:cxnLst/>
            <a:rect r="r" b="b" t="t" l="l"/>
            <a:pathLst>
              <a:path h="1969333" w="11845613">
                <a:moveTo>
                  <a:pt x="0" y="0"/>
                </a:moveTo>
                <a:lnTo>
                  <a:pt x="11845614" y="0"/>
                </a:lnTo>
                <a:lnTo>
                  <a:pt x="11845614" y="1969334"/>
                </a:lnTo>
                <a:lnTo>
                  <a:pt x="0" y="1969334"/>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Các chức năng cơ bản</a:t>
            </a:r>
          </a:p>
        </p:txBody>
      </p:sp>
      <p:sp>
        <p:nvSpPr>
          <p:cNvPr name="TextBox 13" id="13"/>
          <p:cNvSpPr txBox="true"/>
          <p:nvPr/>
        </p:nvSpPr>
        <p:spPr>
          <a:xfrm rot="0">
            <a:off x="1183404" y="3269414"/>
            <a:ext cx="4839129" cy="476250"/>
          </a:xfrm>
          <a:prstGeom prst="rect">
            <a:avLst/>
          </a:prstGeom>
        </p:spPr>
        <p:txBody>
          <a:bodyPr anchor="t" rtlCol="false" tIns="0" lIns="0" bIns="0" rIns="0">
            <a:spAutoFit/>
          </a:bodyPr>
          <a:lstStyle/>
          <a:p>
            <a:pPr algn="ctr">
              <a:lnSpc>
                <a:spcPts val="3600"/>
              </a:lnSpc>
            </a:pPr>
            <a:r>
              <a:rPr lang="en-US" sz="3000">
                <a:solidFill>
                  <a:srgbClr val="000000"/>
                </a:solidFill>
                <a:latin typeface="Roboto"/>
                <a:ea typeface="Roboto"/>
                <a:cs typeface="Roboto"/>
                <a:sym typeface="Roboto"/>
              </a:rPr>
              <a:t>-Chỉnh sửa sản phẩm:</a:t>
            </a:r>
          </a:p>
        </p:txBody>
      </p:sp>
      <p:sp>
        <p:nvSpPr>
          <p:cNvPr name="TextBox 14" id="14"/>
          <p:cNvSpPr txBox="true"/>
          <p:nvPr/>
        </p:nvSpPr>
        <p:spPr>
          <a:xfrm rot="0">
            <a:off x="2665522" y="7576358"/>
            <a:ext cx="14088057" cy="733425"/>
          </a:xfrm>
          <a:prstGeom prst="rect">
            <a:avLst/>
          </a:prstGeom>
        </p:spPr>
        <p:txBody>
          <a:bodyPr anchor="t" rtlCol="false" tIns="0" lIns="0" bIns="0" rIns="0">
            <a:spAutoFit/>
          </a:bodyPr>
          <a:lstStyle/>
          <a:p>
            <a:pPr algn="l" marL="518163" indent="-259082" lvl="1">
              <a:lnSpc>
                <a:spcPts val="2880"/>
              </a:lnSpc>
              <a:buFont typeface="Arial"/>
              <a:buChar char="•"/>
            </a:pPr>
            <a:r>
              <a:rPr lang="en-US" sz="2400">
                <a:solidFill>
                  <a:srgbClr val="000000"/>
                </a:solidFill>
                <a:latin typeface="Roboto"/>
                <a:ea typeface="Roboto"/>
                <a:cs typeface="Roboto"/>
                <a:sym typeface="Roboto"/>
              </a:rPr>
              <a:t>update(data): chỉ được thay đổi các trường được truyền vào, không xóa các trường khác.</a:t>
            </a:r>
          </a:p>
          <a:p>
            <a:pPr algn="l">
              <a:lnSpc>
                <a:spcPts val="288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0483068" y="3239059"/>
            <a:ext cx="5778143" cy="4748583"/>
          </a:xfrm>
          <a:custGeom>
            <a:avLst/>
            <a:gdLst/>
            <a:ahLst/>
            <a:cxnLst/>
            <a:rect r="r" b="b" t="t" l="l"/>
            <a:pathLst>
              <a:path h="4748583" w="5778143">
                <a:moveTo>
                  <a:pt x="0" y="0"/>
                </a:moveTo>
                <a:lnTo>
                  <a:pt x="5778143" y="0"/>
                </a:lnTo>
                <a:lnTo>
                  <a:pt x="5778143" y="4748584"/>
                </a:lnTo>
                <a:lnTo>
                  <a:pt x="0" y="47485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Truy vấn phức tạp</a:t>
            </a:r>
          </a:p>
        </p:txBody>
      </p:sp>
      <p:sp>
        <p:nvSpPr>
          <p:cNvPr name="TextBox 13" id="13"/>
          <p:cNvSpPr txBox="true"/>
          <p:nvPr/>
        </p:nvSpPr>
        <p:spPr>
          <a:xfrm rot="0">
            <a:off x="895970" y="4085669"/>
            <a:ext cx="8248030" cy="3676650"/>
          </a:xfrm>
          <a:prstGeom prst="rect">
            <a:avLst/>
          </a:prstGeom>
        </p:spPr>
        <p:txBody>
          <a:bodyPr anchor="t" rtlCol="false" tIns="0" lIns="0" bIns="0" rIns="0">
            <a:spAutoFit/>
          </a:bodyPr>
          <a:lstStyle/>
          <a:p>
            <a:pPr algn="l" marL="647700" indent="-323850" lvl="1">
              <a:lnSpc>
                <a:spcPts val="3600"/>
              </a:lnSpc>
              <a:buFont typeface="Arial"/>
              <a:buChar char="•"/>
            </a:pPr>
            <a:r>
              <a:rPr lang="en-US" sz="3000">
                <a:solidFill>
                  <a:srgbClr val="000000"/>
                </a:solidFill>
                <a:latin typeface="Roboto"/>
                <a:ea typeface="Roboto"/>
                <a:cs typeface="Roboto"/>
                <a:sym typeface="Roboto"/>
              </a:rPr>
              <a:t>Nâng cao hơn so với các chức năng bình thường, Firebase hỗ trợ ta có thể lọc theo điều kiện, sắp xếp dữ liệu và giới hạn số lượng kết quả.</a:t>
            </a:r>
          </a:p>
          <a:p>
            <a:pPr algn="l" marL="647700" indent="-323850" lvl="1">
              <a:lnSpc>
                <a:spcPts val="3600"/>
              </a:lnSpc>
              <a:buFont typeface="Arial"/>
              <a:buChar char="•"/>
            </a:pPr>
            <a:r>
              <a:rPr lang="en-US" sz="3000">
                <a:solidFill>
                  <a:srgbClr val="000000"/>
                </a:solidFill>
                <a:latin typeface="Roboto"/>
                <a:ea typeface="Roboto"/>
                <a:cs typeface="Roboto"/>
                <a:sym typeface="Roboto"/>
              </a:rPr>
              <a:t>Để làm được điều đó Stream sẽ được sử dụng để lấy dữ liệu, hỗ trợ cập nhật dữ liệu thời gian thực và sắp xếp, lọc, giới hạn kết quả theo yêu cầu.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330383" y="4424436"/>
            <a:ext cx="8661447" cy="3934494"/>
          </a:xfrm>
          <a:custGeom>
            <a:avLst/>
            <a:gdLst/>
            <a:ahLst/>
            <a:cxnLst/>
            <a:rect r="r" b="b" t="t" l="l"/>
            <a:pathLst>
              <a:path h="3934494" w="8661447">
                <a:moveTo>
                  <a:pt x="0" y="0"/>
                </a:moveTo>
                <a:lnTo>
                  <a:pt x="8661447" y="0"/>
                </a:lnTo>
                <a:lnTo>
                  <a:pt x="8661447" y="3934494"/>
                </a:lnTo>
                <a:lnTo>
                  <a:pt x="0" y="3934494"/>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Truy vấn phức tạp</a:t>
            </a:r>
          </a:p>
        </p:txBody>
      </p:sp>
      <p:sp>
        <p:nvSpPr>
          <p:cNvPr name="TextBox 13" id="13"/>
          <p:cNvSpPr txBox="true"/>
          <p:nvPr/>
        </p:nvSpPr>
        <p:spPr>
          <a:xfrm rot="0">
            <a:off x="1119469" y="2900436"/>
            <a:ext cx="5687292"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-Khai báo Stream:</a:t>
            </a:r>
          </a:p>
        </p:txBody>
      </p:sp>
      <p:sp>
        <p:nvSpPr>
          <p:cNvPr name="TextBox 14" id="14"/>
          <p:cNvSpPr txBox="true"/>
          <p:nvPr/>
        </p:nvSpPr>
        <p:spPr>
          <a:xfrm rot="0">
            <a:off x="10274946" y="5133975"/>
            <a:ext cx="6895788" cy="2466975"/>
          </a:xfrm>
          <a:prstGeom prst="rect">
            <a:avLst/>
          </a:prstGeom>
        </p:spPr>
        <p:txBody>
          <a:bodyPr anchor="t" rtlCol="false" tIns="0" lIns="0" bIns="0" rIns="0">
            <a:spAutoFit/>
          </a:bodyPr>
          <a:lstStyle/>
          <a:p>
            <a:pPr algn="l" marL="582932" indent="-291466" lvl="1">
              <a:lnSpc>
                <a:spcPts val="3240"/>
              </a:lnSpc>
              <a:buFont typeface="Arial"/>
              <a:buChar char="•"/>
            </a:pPr>
            <a:r>
              <a:rPr lang="en-US" sz="2700">
                <a:solidFill>
                  <a:srgbClr val="000000"/>
                </a:solidFill>
                <a:latin typeface="Roboto"/>
                <a:ea typeface="Roboto"/>
                <a:cs typeface="Roboto"/>
                <a:sym typeface="Roboto"/>
              </a:rPr>
              <a:t>Lấy các dữ liệu được tạo từ FireStore cụ thể là: danh mục, giá cả, thời gian được tạo giới hạn.</a:t>
            </a:r>
          </a:p>
          <a:p>
            <a:pPr algn="l" marL="582932" indent="-291466" lvl="1">
              <a:lnSpc>
                <a:spcPts val="3240"/>
              </a:lnSpc>
              <a:buFont typeface="Arial"/>
              <a:buChar char="•"/>
            </a:pPr>
            <a:r>
              <a:rPr lang="en-US" sz="2700">
                <a:solidFill>
                  <a:srgbClr val="000000"/>
                </a:solidFill>
                <a:latin typeface="Roboto"/>
                <a:ea typeface="Roboto"/>
                <a:cs typeface="Roboto"/>
                <a:sym typeface="Roboto"/>
              </a:rPr>
              <a:t>Query query = _products: Để bắt đầu truy vấn từ collection products.</a:t>
            </a:r>
          </a:p>
          <a:p>
            <a:pPr algn="l">
              <a:lnSpc>
                <a:spcPts val="3240"/>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336138" y="4246750"/>
            <a:ext cx="11301259" cy="2910074"/>
          </a:xfrm>
          <a:custGeom>
            <a:avLst/>
            <a:gdLst/>
            <a:ahLst/>
            <a:cxnLst/>
            <a:rect r="r" b="b" t="t" l="l"/>
            <a:pathLst>
              <a:path h="2910074" w="11301259">
                <a:moveTo>
                  <a:pt x="0" y="0"/>
                </a:moveTo>
                <a:lnTo>
                  <a:pt x="11301259" y="0"/>
                </a:lnTo>
                <a:lnTo>
                  <a:pt x="11301259" y="2910075"/>
                </a:lnTo>
                <a:lnTo>
                  <a:pt x="0" y="2910075"/>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Truy vấn phức tạp</a:t>
            </a:r>
          </a:p>
        </p:txBody>
      </p:sp>
      <p:sp>
        <p:nvSpPr>
          <p:cNvPr name="TextBox 13" id="13"/>
          <p:cNvSpPr txBox="true"/>
          <p:nvPr/>
        </p:nvSpPr>
        <p:spPr>
          <a:xfrm rot="0">
            <a:off x="1028700" y="2900436"/>
            <a:ext cx="5687292"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-Sử dụng Where:</a:t>
            </a:r>
          </a:p>
        </p:txBody>
      </p:sp>
      <p:sp>
        <p:nvSpPr>
          <p:cNvPr name="TextBox 14" id="14"/>
          <p:cNvSpPr txBox="true"/>
          <p:nvPr/>
        </p:nvSpPr>
        <p:spPr>
          <a:xfrm rot="0">
            <a:off x="5311075" y="7361700"/>
            <a:ext cx="7351384" cy="1533525"/>
          </a:xfrm>
          <a:prstGeom prst="rect">
            <a:avLst/>
          </a:prstGeom>
        </p:spPr>
        <p:txBody>
          <a:bodyPr anchor="t" rtlCol="false" tIns="0" lIns="0" bIns="0" rIns="0">
            <a:spAutoFit/>
          </a:bodyPr>
          <a:lstStyle/>
          <a:p>
            <a:pPr algn="l" marL="539753" indent="-269876" lvl="1">
              <a:lnSpc>
                <a:spcPts val="3000"/>
              </a:lnSpc>
              <a:buFont typeface="Arial"/>
              <a:buChar char="•"/>
            </a:pPr>
            <a:r>
              <a:rPr lang="en-US" sz="2500">
                <a:solidFill>
                  <a:srgbClr val="000000"/>
                </a:solidFill>
                <a:latin typeface="Roboto"/>
                <a:ea typeface="Roboto"/>
                <a:cs typeface="Roboto"/>
                <a:sym typeface="Roboto"/>
              </a:rPr>
              <a:t>category_lower: là trường đã được chuẩn hóa (chữ thường, bỏ khoảng trắng).</a:t>
            </a:r>
          </a:p>
          <a:p>
            <a:pPr algn="l" marL="539753" indent="-269876" lvl="1">
              <a:lnSpc>
                <a:spcPts val="3000"/>
              </a:lnSpc>
              <a:buFont typeface="Arial"/>
              <a:buChar char="•"/>
            </a:pPr>
            <a:r>
              <a:rPr lang="en-US" sz="2500">
                <a:solidFill>
                  <a:srgbClr val="000000"/>
                </a:solidFill>
                <a:latin typeface="Roboto"/>
                <a:ea typeface="Roboto"/>
                <a:cs typeface="Roboto"/>
                <a:sym typeface="Roboto"/>
              </a:rPr>
              <a:t>Giúp lọc</a:t>
            </a:r>
            <a:r>
              <a:rPr lang="en-US" sz="2500">
                <a:solidFill>
                  <a:srgbClr val="000000"/>
                </a:solidFill>
                <a:latin typeface="Roboto"/>
                <a:ea typeface="Roboto"/>
                <a:cs typeface="Roboto"/>
                <a:sym typeface="Roboto"/>
              </a:rPr>
              <a:t> dữ liệu không phân biệt hoa/thường, tránh lỗi khi nhập liệu khác nhau.</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220290" y="3692471"/>
            <a:ext cx="11166763" cy="1149086"/>
          </a:xfrm>
          <a:custGeom>
            <a:avLst/>
            <a:gdLst/>
            <a:ahLst/>
            <a:cxnLst/>
            <a:rect r="r" b="b" t="t" l="l"/>
            <a:pathLst>
              <a:path h="1149086" w="11166763">
                <a:moveTo>
                  <a:pt x="0" y="0"/>
                </a:moveTo>
                <a:lnTo>
                  <a:pt x="11166763" y="0"/>
                </a:lnTo>
                <a:lnTo>
                  <a:pt x="11166763" y="1149086"/>
                </a:lnTo>
                <a:lnTo>
                  <a:pt x="0" y="1149086"/>
                </a:lnTo>
                <a:lnTo>
                  <a:pt x="0" y="0"/>
                </a:lnTo>
                <a:close/>
              </a:path>
            </a:pathLst>
          </a:custGeom>
          <a:blipFill>
            <a:blip r:embed="rId7"/>
            <a:stretch>
              <a:fillRect l="0" t="0" r="0" b="0"/>
            </a:stretch>
          </a:blipFill>
        </p:spPr>
      </p:sp>
      <p:sp>
        <p:nvSpPr>
          <p:cNvPr name="Freeform 12" id="12"/>
          <p:cNvSpPr/>
          <p:nvPr/>
        </p:nvSpPr>
        <p:spPr>
          <a:xfrm flipH="false" flipV="false" rot="0">
            <a:off x="3872346" y="6425817"/>
            <a:ext cx="8352152" cy="1865370"/>
          </a:xfrm>
          <a:custGeom>
            <a:avLst/>
            <a:gdLst/>
            <a:ahLst/>
            <a:cxnLst/>
            <a:rect r="r" b="b" t="t" l="l"/>
            <a:pathLst>
              <a:path h="1865370" w="8352152">
                <a:moveTo>
                  <a:pt x="0" y="0"/>
                </a:moveTo>
                <a:lnTo>
                  <a:pt x="8352152" y="0"/>
                </a:lnTo>
                <a:lnTo>
                  <a:pt x="8352152" y="1865370"/>
                </a:lnTo>
                <a:lnTo>
                  <a:pt x="0" y="1865370"/>
                </a:lnTo>
                <a:lnTo>
                  <a:pt x="0" y="0"/>
                </a:lnTo>
                <a:close/>
              </a:path>
            </a:pathLst>
          </a:custGeom>
          <a:blipFill>
            <a:blip r:embed="rId8"/>
            <a:stretch>
              <a:fillRect l="0" t="0" r="0" b="0"/>
            </a:stretch>
          </a:blipFill>
        </p:spPr>
      </p:sp>
      <p:sp>
        <p:nvSpPr>
          <p:cNvPr name="TextBox 13" id="13"/>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Truy vấn phức tạp</a:t>
            </a:r>
          </a:p>
        </p:txBody>
      </p:sp>
      <p:sp>
        <p:nvSpPr>
          <p:cNvPr name="TextBox 14" id="14"/>
          <p:cNvSpPr txBox="true"/>
          <p:nvPr/>
        </p:nvSpPr>
        <p:spPr>
          <a:xfrm rot="0">
            <a:off x="1028700" y="2900436"/>
            <a:ext cx="5687292"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-Sử dụng OrderBy:</a:t>
            </a:r>
          </a:p>
        </p:txBody>
      </p:sp>
      <p:sp>
        <p:nvSpPr>
          <p:cNvPr name="TextBox 15" id="15"/>
          <p:cNvSpPr txBox="true"/>
          <p:nvPr/>
        </p:nvSpPr>
        <p:spPr>
          <a:xfrm rot="0">
            <a:off x="3631501" y="4943475"/>
            <a:ext cx="12570584" cy="390525"/>
          </a:xfrm>
          <a:prstGeom prst="rect">
            <a:avLst/>
          </a:prstGeom>
        </p:spPr>
        <p:txBody>
          <a:bodyPr anchor="t" rtlCol="false" tIns="0" lIns="0" bIns="0" rIns="0">
            <a:spAutoFit/>
          </a:bodyPr>
          <a:lstStyle/>
          <a:p>
            <a:pPr algn="l" marL="539753" indent="-269876" lvl="1">
              <a:lnSpc>
                <a:spcPts val="3000"/>
              </a:lnSpc>
              <a:buFont typeface="Arial"/>
              <a:buChar char="•"/>
            </a:pPr>
            <a:r>
              <a:rPr lang="en-US" sz="2500">
                <a:solidFill>
                  <a:srgbClr val="000000"/>
                </a:solidFill>
                <a:latin typeface="Roboto"/>
                <a:ea typeface="Roboto"/>
                <a:cs typeface="Roboto"/>
                <a:sym typeface="Roboto"/>
              </a:rPr>
              <a:t>Áp dụng một lệnh sắ</a:t>
            </a:r>
            <a:r>
              <a:rPr lang="en-US" sz="2500">
                <a:solidFill>
                  <a:srgbClr val="000000"/>
                </a:solidFill>
                <a:latin typeface="Roboto"/>
                <a:ea typeface="Roboto"/>
                <a:cs typeface="Roboto"/>
                <a:sym typeface="Roboto"/>
              </a:rPr>
              <a:t>p xếp</a:t>
            </a:r>
            <a:r>
              <a:rPr lang="en-US" sz="2500">
                <a:solidFill>
                  <a:srgbClr val="000000"/>
                </a:solidFill>
                <a:latin typeface="Roboto"/>
                <a:ea typeface="Roboto"/>
                <a:cs typeface="Roboto"/>
                <a:sym typeface="Roboto"/>
              </a:rPr>
              <a:t> duy nhất theo trường mà người dùng đã chọn</a:t>
            </a:r>
          </a:p>
        </p:txBody>
      </p:sp>
      <p:sp>
        <p:nvSpPr>
          <p:cNvPr name="TextBox 16" id="16"/>
          <p:cNvSpPr txBox="true"/>
          <p:nvPr/>
        </p:nvSpPr>
        <p:spPr>
          <a:xfrm rot="0">
            <a:off x="895970" y="5835267"/>
            <a:ext cx="5687292"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-Sử dụng Limit:</a:t>
            </a:r>
          </a:p>
        </p:txBody>
      </p:sp>
      <p:sp>
        <p:nvSpPr>
          <p:cNvPr name="TextBox 17" id="17"/>
          <p:cNvSpPr txBox="true"/>
          <p:nvPr/>
        </p:nvSpPr>
        <p:spPr>
          <a:xfrm rot="0">
            <a:off x="3739616" y="8486775"/>
            <a:ext cx="12570584" cy="771525"/>
          </a:xfrm>
          <a:prstGeom prst="rect">
            <a:avLst/>
          </a:prstGeom>
        </p:spPr>
        <p:txBody>
          <a:bodyPr anchor="t" rtlCol="false" tIns="0" lIns="0" bIns="0" rIns="0">
            <a:spAutoFit/>
          </a:bodyPr>
          <a:lstStyle/>
          <a:p>
            <a:pPr algn="l" marL="539753" indent="-269876" lvl="1">
              <a:lnSpc>
                <a:spcPts val="3000"/>
              </a:lnSpc>
              <a:buFont typeface="Arial"/>
              <a:buChar char="•"/>
            </a:pPr>
            <a:r>
              <a:rPr lang="en-US" sz="2500">
                <a:solidFill>
                  <a:srgbClr val="000000"/>
                </a:solidFill>
                <a:latin typeface="Roboto"/>
                <a:ea typeface="Roboto"/>
                <a:cs typeface="Roboto"/>
                <a:sym typeface="Roboto"/>
              </a:rPr>
              <a:t>Giảm số lượng dữ liệu được</a:t>
            </a:r>
            <a:r>
              <a:rPr lang="en-US" sz="2500">
                <a:solidFill>
                  <a:srgbClr val="000000"/>
                </a:solidFill>
                <a:latin typeface="Roboto"/>
                <a:ea typeface="Roboto"/>
                <a:cs typeface="Roboto"/>
                <a:sym typeface="Roboto"/>
              </a:rPr>
              <a:t> trả</a:t>
            </a:r>
            <a:r>
              <a:rPr lang="en-US" sz="2500">
                <a:solidFill>
                  <a:srgbClr val="000000"/>
                </a:solidFill>
                <a:latin typeface="Roboto"/>
                <a:ea typeface="Roboto"/>
                <a:cs typeface="Roboto"/>
                <a:sym typeface="Roboto"/>
              </a:rPr>
              <a:t> về từ Firebase.</a:t>
            </a:r>
          </a:p>
          <a:p>
            <a:pPr algn="l" marL="539753" indent="-269876" lvl="1">
              <a:lnSpc>
                <a:spcPts val="3000"/>
              </a:lnSpc>
              <a:buFont typeface="Arial"/>
              <a:buChar char="•"/>
            </a:pPr>
            <a:r>
              <a:rPr lang="en-US" sz="2500">
                <a:solidFill>
                  <a:srgbClr val="000000"/>
                </a:solidFill>
                <a:latin typeface="Roboto"/>
                <a:ea typeface="Roboto"/>
                <a:cs typeface="Roboto"/>
                <a:sym typeface="Roboto"/>
              </a:rPr>
              <a:t>Giúp tránh tải quá nhiều dữ liệu khi collection lớn.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357217" y="4013703"/>
            <a:ext cx="11301259" cy="5339845"/>
          </a:xfrm>
          <a:custGeom>
            <a:avLst/>
            <a:gdLst/>
            <a:ahLst/>
            <a:cxnLst/>
            <a:rect r="r" b="b" t="t" l="l"/>
            <a:pathLst>
              <a:path h="5339845" w="11301259">
                <a:moveTo>
                  <a:pt x="0" y="0"/>
                </a:moveTo>
                <a:lnTo>
                  <a:pt x="11301259" y="0"/>
                </a:lnTo>
                <a:lnTo>
                  <a:pt x="11301259" y="5339845"/>
                </a:lnTo>
                <a:lnTo>
                  <a:pt x="0" y="5339845"/>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Truy vấn phức tạp</a:t>
            </a:r>
          </a:p>
        </p:txBody>
      </p:sp>
      <p:sp>
        <p:nvSpPr>
          <p:cNvPr name="TextBox 13" id="13"/>
          <p:cNvSpPr txBox="true"/>
          <p:nvPr/>
        </p:nvSpPr>
        <p:spPr>
          <a:xfrm rot="0">
            <a:off x="1028700" y="2900436"/>
            <a:ext cx="14418745" cy="1390650"/>
          </a:xfrm>
          <a:prstGeom prst="rect">
            <a:avLst/>
          </a:prstGeom>
        </p:spPr>
        <p:txBody>
          <a:bodyPr anchor="t" rtlCol="false" tIns="0" lIns="0" bIns="0" rIns="0">
            <a:spAutoFit/>
          </a:bodyPr>
          <a:lstStyle/>
          <a:p>
            <a:pPr algn="l" marL="647700" indent="-323850" lvl="1">
              <a:lnSpc>
                <a:spcPts val="3600"/>
              </a:lnSpc>
              <a:buFont typeface="Arial"/>
              <a:buChar char="•"/>
            </a:pPr>
            <a:r>
              <a:rPr lang="en-US" sz="3000">
                <a:solidFill>
                  <a:srgbClr val="000000"/>
                </a:solidFill>
                <a:latin typeface="Roboto"/>
                <a:ea typeface="Roboto"/>
                <a:cs typeface="Roboto"/>
                <a:sym typeface="Roboto"/>
              </a:rPr>
              <a:t>Cuối cùng ta phải tạo các index cho các trường hợp lọc để ứng dụng có thể chạy;</a:t>
            </a:r>
          </a:p>
          <a:p>
            <a:pPr algn="l" marL="647700" indent="-323850" lvl="1">
              <a:lnSpc>
                <a:spcPts val="3600"/>
              </a:lnSpc>
              <a:buFont typeface="Arial"/>
              <a:buChar char="•"/>
            </a:pPr>
            <a:r>
              <a:rPr lang="en-US" sz="3000">
                <a:solidFill>
                  <a:srgbClr val="000000"/>
                </a:solidFill>
                <a:latin typeface="Roboto"/>
                <a:ea typeface="Roboto"/>
                <a:cs typeface="Roboto"/>
                <a:sym typeface="Roboto"/>
              </a:rPr>
              <a:t>Truy cập FireBase -&gt; Firestore Database -&gt; Indexes -&gt; Add Index:</a:t>
            </a:r>
          </a:p>
          <a:p>
            <a:pPr algn="l">
              <a:lnSpc>
                <a:spcPts val="3600"/>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908900" y="3235000"/>
            <a:ext cx="121908" cy="121908"/>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5" id="5"/>
          <p:cNvGrpSpPr/>
          <p:nvPr/>
        </p:nvGrpSpPr>
        <p:grpSpPr>
          <a:xfrm rot="0">
            <a:off x="10055579" y="7995212"/>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7" id="7"/>
          <p:cNvGrpSpPr/>
          <p:nvPr/>
        </p:nvGrpSpPr>
        <p:grpSpPr>
          <a:xfrm rot="0">
            <a:off x="6873127" y="7799872"/>
            <a:ext cx="4541746" cy="2163680"/>
            <a:chOff x="0" y="0"/>
            <a:chExt cx="1892461" cy="901566"/>
          </a:xfrm>
        </p:grpSpPr>
        <p:sp>
          <p:nvSpPr>
            <p:cNvPr name="Freeform 8" id="8"/>
            <p:cNvSpPr/>
            <p:nvPr/>
          </p:nvSpPr>
          <p:spPr>
            <a:xfrm flipH="false" flipV="false" rot="0">
              <a:off x="0" y="0"/>
              <a:ext cx="1892461" cy="901566"/>
            </a:xfrm>
            <a:custGeom>
              <a:avLst/>
              <a:gdLst/>
              <a:ahLst/>
              <a:cxnLst/>
              <a:rect r="r" b="b" t="t" l="l"/>
              <a:pathLst>
                <a:path h="901566" w="1892461">
                  <a:moveTo>
                    <a:pt x="0" y="0"/>
                  </a:moveTo>
                  <a:lnTo>
                    <a:pt x="1892461" y="0"/>
                  </a:lnTo>
                  <a:lnTo>
                    <a:pt x="1892461" y="901566"/>
                  </a:lnTo>
                  <a:lnTo>
                    <a:pt x="0" y="901566"/>
                  </a:lnTo>
                  <a:close/>
                </a:path>
              </a:pathLst>
            </a:custGeom>
            <a:solidFill>
              <a:srgbClr val="FFFFFF"/>
            </a:solidFill>
          </p:spPr>
        </p:sp>
      </p:grpSp>
      <p:grpSp>
        <p:nvGrpSpPr>
          <p:cNvPr name="Group 9" id="9"/>
          <p:cNvGrpSpPr/>
          <p:nvPr/>
        </p:nvGrpSpPr>
        <p:grpSpPr>
          <a:xfrm rot="0">
            <a:off x="804034" y="672702"/>
            <a:ext cx="16679931" cy="9112844"/>
            <a:chOff x="0" y="0"/>
            <a:chExt cx="6950218" cy="3797153"/>
          </a:xfrm>
        </p:grpSpPr>
        <p:sp>
          <p:nvSpPr>
            <p:cNvPr name="Freeform 10" id="10"/>
            <p:cNvSpPr/>
            <p:nvPr/>
          </p:nvSpPr>
          <p:spPr>
            <a:xfrm flipH="false" flipV="false" rot="0">
              <a:off x="0" y="0"/>
              <a:ext cx="6950218" cy="3797153"/>
            </a:xfrm>
            <a:custGeom>
              <a:avLst/>
              <a:gdLst/>
              <a:ahLst/>
              <a:cxnLst/>
              <a:rect r="r" b="b" t="t" l="l"/>
              <a:pathLst>
                <a:path h="3797153" w="6950218">
                  <a:moveTo>
                    <a:pt x="0" y="0"/>
                  </a:moveTo>
                  <a:lnTo>
                    <a:pt x="6950218" y="0"/>
                  </a:lnTo>
                  <a:lnTo>
                    <a:pt x="6950218" y="3797153"/>
                  </a:lnTo>
                  <a:lnTo>
                    <a:pt x="0" y="3797153"/>
                  </a:lnTo>
                  <a:close/>
                </a:path>
              </a:pathLst>
            </a:custGeom>
            <a:solidFill>
              <a:srgbClr val="FFFFFF"/>
            </a:solidFill>
          </p:spPr>
        </p:sp>
      </p:grpSp>
      <p:sp>
        <p:nvSpPr>
          <p:cNvPr name="Freeform 11" id="11"/>
          <p:cNvSpPr/>
          <p:nvPr/>
        </p:nvSpPr>
        <p:spPr>
          <a:xfrm flipH="false" flipV="false" rot="0">
            <a:off x="13414943" y="1243644"/>
            <a:ext cx="3844357" cy="1052393"/>
          </a:xfrm>
          <a:custGeom>
            <a:avLst/>
            <a:gdLst/>
            <a:ahLst/>
            <a:cxnLst/>
            <a:rect r="r" b="b" t="t" l="l"/>
            <a:pathLst>
              <a:path h="1052393" w="3844357">
                <a:moveTo>
                  <a:pt x="0" y="0"/>
                </a:moveTo>
                <a:lnTo>
                  <a:pt x="3844357" y="0"/>
                </a:lnTo>
                <a:lnTo>
                  <a:pt x="3844357" y="1052392"/>
                </a:lnTo>
                <a:lnTo>
                  <a:pt x="0" y="1052392"/>
                </a:lnTo>
                <a:lnTo>
                  <a:pt x="0" y="0"/>
                </a:lnTo>
                <a:close/>
              </a:path>
            </a:pathLst>
          </a:custGeom>
          <a:blipFill>
            <a:blip r:embed="rId3"/>
            <a:stretch>
              <a:fillRect l="0" t="0" r="0" b="0"/>
            </a:stretch>
          </a:blipFill>
        </p:spPr>
      </p:sp>
      <p:sp>
        <p:nvSpPr>
          <p:cNvPr name="Freeform 12" id="12"/>
          <p:cNvSpPr/>
          <p:nvPr/>
        </p:nvSpPr>
        <p:spPr>
          <a:xfrm flipH="false" flipV="false" rot="0">
            <a:off x="6337570" y="7470563"/>
            <a:ext cx="4429556" cy="2034329"/>
          </a:xfrm>
          <a:custGeom>
            <a:avLst/>
            <a:gdLst/>
            <a:ahLst/>
            <a:cxnLst/>
            <a:rect r="r" b="b" t="t" l="l"/>
            <a:pathLst>
              <a:path h="2034329" w="4429556">
                <a:moveTo>
                  <a:pt x="0" y="0"/>
                </a:moveTo>
                <a:lnTo>
                  <a:pt x="4429556" y="0"/>
                </a:lnTo>
                <a:lnTo>
                  <a:pt x="4429556" y="2034329"/>
                </a:lnTo>
                <a:lnTo>
                  <a:pt x="0" y="2034329"/>
                </a:lnTo>
                <a:lnTo>
                  <a:pt x="0" y="0"/>
                </a:lnTo>
                <a:close/>
              </a:path>
            </a:pathLst>
          </a:custGeom>
          <a:blipFill>
            <a:blip r:embed="rId4"/>
            <a:stretch>
              <a:fillRect l="-11650" t="-10103" r="-14980" b="-6735"/>
            </a:stretch>
          </a:blipFill>
        </p:spPr>
      </p:sp>
      <p:sp>
        <p:nvSpPr>
          <p:cNvPr name="Freeform 13" id="13"/>
          <p:cNvSpPr/>
          <p:nvPr/>
        </p:nvSpPr>
        <p:spPr>
          <a:xfrm flipH="false" flipV="false" rot="0">
            <a:off x="544612" y="526196"/>
            <a:ext cx="6064349" cy="2487287"/>
          </a:xfrm>
          <a:custGeom>
            <a:avLst/>
            <a:gdLst/>
            <a:ahLst/>
            <a:cxnLst/>
            <a:rect r="r" b="b" t="t" l="l"/>
            <a:pathLst>
              <a:path h="2487287" w="6064349">
                <a:moveTo>
                  <a:pt x="0" y="0"/>
                </a:moveTo>
                <a:lnTo>
                  <a:pt x="6064349" y="0"/>
                </a:lnTo>
                <a:lnTo>
                  <a:pt x="6064349" y="2487287"/>
                </a:lnTo>
                <a:lnTo>
                  <a:pt x="0" y="2487287"/>
                </a:lnTo>
                <a:lnTo>
                  <a:pt x="0" y="0"/>
                </a:lnTo>
                <a:close/>
              </a:path>
            </a:pathLst>
          </a:custGeom>
          <a:blipFill>
            <a:blip r:embed="rId5"/>
            <a:stretch>
              <a:fillRect l="0" t="-10953" r="0" b="-10953"/>
            </a:stretch>
          </a:blipFill>
        </p:spPr>
      </p:sp>
      <p:sp>
        <p:nvSpPr>
          <p:cNvPr name="Freeform 14" id="14"/>
          <p:cNvSpPr/>
          <p:nvPr/>
        </p:nvSpPr>
        <p:spPr>
          <a:xfrm flipH="false" flipV="false" rot="-278358">
            <a:off x="12662556" y="8722038"/>
            <a:ext cx="5868613" cy="1845945"/>
          </a:xfrm>
          <a:custGeom>
            <a:avLst/>
            <a:gdLst/>
            <a:ahLst/>
            <a:cxnLst/>
            <a:rect r="r" b="b" t="t" l="l"/>
            <a:pathLst>
              <a:path h="1845945" w="5868613">
                <a:moveTo>
                  <a:pt x="0" y="0"/>
                </a:moveTo>
                <a:lnTo>
                  <a:pt x="5868613" y="0"/>
                </a:lnTo>
                <a:lnTo>
                  <a:pt x="5868613" y="1845945"/>
                </a:lnTo>
                <a:lnTo>
                  <a:pt x="0" y="1845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278358">
            <a:off x="30544" y="92749"/>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571780" y="3095929"/>
            <a:ext cx="13643669" cy="3489326"/>
          </a:xfrm>
          <a:prstGeom prst="rect">
            <a:avLst/>
          </a:prstGeom>
        </p:spPr>
        <p:txBody>
          <a:bodyPr anchor="t" rtlCol="false" tIns="0" lIns="0" bIns="0" rIns="0">
            <a:spAutoFit/>
          </a:bodyPr>
          <a:lstStyle/>
          <a:p>
            <a:pPr algn="ctr">
              <a:lnSpc>
                <a:spcPts val="13999"/>
              </a:lnSpc>
              <a:spcBef>
                <a:spcPct val="0"/>
              </a:spcBef>
            </a:pPr>
            <a:r>
              <a:rPr lang="en-US" b="true" sz="9999" spc="-819">
                <a:solidFill>
                  <a:srgbClr val="003EA8"/>
                </a:solidFill>
                <a:latin typeface="Roboto Bold"/>
                <a:ea typeface="Roboto Bold"/>
                <a:cs typeface="Roboto Bold"/>
                <a:sym typeface="Roboto Bold"/>
              </a:rPr>
              <a:t>Đồng bộ</a:t>
            </a:r>
            <a:r>
              <a:rPr lang="en-US" b="true" sz="9999" spc="-819">
                <a:solidFill>
                  <a:srgbClr val="003EA8"/>
                </a:solidFill>
                <a:latin typeface="Roboto Bold"/>
                <a:ea typeface="Roboto Bold"/>
                <a:cs typeface="Roboto Bold"/>
                <a:sym typeface="Roboto Bold"/>
              </a:rPr>
              <a:t> thời gian thực và hỗ trợ Offline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583896"/>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560732" y="3577762"/>
            <a:ext cx="9042326" cy="5775786"/>
          </a:xfrm>
          <a:custGeom>
            <a:avLst/>
            <a:gdLst/>
            <a:ahLst/>
            <a:cxnLst/>
            <a:rect r="r" b="b" t="t" l="l"/>
            <a:pathLst>
              <a:path h="5775786" w="9042326">
                <a:moveTo>
                  <a:pt x="0" y="0"/>
                </a:moveTo>
                <a:lnTo>
                  <a:pt x="9042326" y="0"/>
                </a:lnTo>
                <a:lnTo>
                  <a:pt x="9042326" y="5775786"/>
                </a:lnTo>
                <a:lnTo>
                  <a:pt x="0" y="5775786"/>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Đồng bộ theo thời gian thực</a:t>
            </a:r>
          </a:p>
        </p:txBody>
      </p:sp>
      <p:sp>
        <p:nvSpPr>
          <p:cNvPr name="TextBox 13" id="13"/>
          <p:cNvSpPr txBox="true"/>
          <p:nvPr/>
        </p:nvSpPr>
        <p:spPr>
          <a:xfrm rot="0">
            <a:off x="895970" y="2853554"/>
            <a:ext cx="11389370"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-Quay lạ</a:t>
            </a:r>
            <a:r>
              <a:rPr lang="en-US" sz="3000">
                <a:solidFill>
                  <a:srgbClr val="000000"/>
                </a:solidFill>
                <a:latin typeface="Roboto"/>
                <a:ea typeface="Roboto"/>
                <a:cs typeface="Roboto"/>
                <a:sym typeface="Roboto"/>
              </a:rPr>
              <a:t>i phần truy vấn, ở trong đó đã được tích sẵn hàm Real-Time:</a:t>
            </a:r>
          </a:p>
        </p:txBody>
      </p:sp>
      <p:sp>
        <p:nvSpPr>
          <p:cNvPr name="TextBox 14" id="14"/>
          <p:cNvSpPr txBox="true"/>
          <p:nvPr/>
        </p:nvSpPr>
        <p:spPr>
          <a:xfrm rot="0">
            <a:off x="11114841" y="4974643"/>
            <a:ext cx="5745482" cy="3219450"/>
          </a:xfrm>
          <a:prstGeom prst="rect">
            <a:avLst/>
          </a:prstGeom>
        </p:spPr>
        <p:txBody>
          <a:bodyPr anchor="t" rtlCol="false" tIns="0" lIns="0" bIns="0" rIns="0">
            <a:spAutoFit/>
          </a:bodyPr>
          <a:lstStyle/>
          <a:p>
            <a:pPr algn="l" marL="647700" indent="-323850" lvl="1">
              <a:lnSpc>
                <a:spcPts val="3600"/>
              </a:lnSpc>
              <a:buFont typeface="Arial"/>
              <a:buChar char="•"/>
            </a:pPr>
            <a:r>
              <a:rPr lang="en-US" sz="3000">
                <a:solidFill>
                  <a:srgbClr val="000000"/>
                </a:solidFill>
                <a:latin typeface="Roboto"/>
                <a:ea typeface="Roboto"/>
                <a:cs typeface="Roboto"/>
                <a:sym typeface="Roboto"/>
              </a:rPr>
              <a:t>sn</a:t>
            </a:r>
            <a:r>
              <a:rPr lang="en-US" sz="3000">
                <a:solidFill>
                  <a:srgbClr val="000000"/>
                </a:solidFill>
                <a:latin typeface="Roboto"/>
                <a:ea typeface="Roboto"/>
                <a:cs typeface="Roboto"/>
                <a:sym typeface="Roboto"/>
              </a:rPr>
              <a:t>apshots(): tạo</a:t>
            </a:r>
            <a:r>
              <a:rPr lang="en-US" sz="3000">
                <a:solidFill>
                  <a:srgbClr val="000000"/>
                </a:solidFill>
                <a:latin typeface="Roboto"/>
                <a:ea typeface="Roboto"/>
                <a:cs typeface="Roboto"/>
                <a:sym typeface="Roboto"/>
              </a:rPr>
              <a:t> ra Stream, lắng nghe dữ liệu thay đổi liên tục trong Firestore.</a:t>
            </a:r>
          </a:p>
          <a:p>
            <a:pPr algn="l" marL="647700" indent="-323850" lvl="1">
              <a:lnSpc>
                <a:spcPts val="3600"/>
              </a:lnSpc>
              <a:buFont typeface="Arial"/>
              <a:buChar char="•"/>
            </a:pPr>
            <a:r>
              <a:rPr lang="en-US" sz="3000">
                <a:solidFill>
                  <a:srgbClr val="000000"/>
                </a:solidFill>
                <a:latin typeface="Roboto"/>
                <a:ea typeface="Roboto"/>
                <a:cs typeface="Roboto"/>
                <a:sym typeface="Roboto"/>
              </a:rPr>
              <a:t>Khi document được thêm, sửa, xóa, Stream này sẽ phát dữ liệu mới ngay lập tức, không cần gọi lại query.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028700" y="3532279"/>
            <a:ext cx="10727966" cy="2226053"/>
          </a:xfrm>
          <a:custGeom>
            <a:avLst/>
            <a:gdLst/>
            <a:ahLst/>
            <a:cxnLst/>
            <a:rect r="r" b="b" t="t" l="l"/>
            <a:pathLst>
              <a:path h="2226053" w="10727966">
                <a:moveTo>
                  <a:pt x="0" y="0"/>
                </a:moveTo>
                <a:lnTo>
                  <a:pt x="10727966" y="0"/>
                </a:lnTo>
                <a:lnTo>
                  <a:pt x="10727966" y="2226053"/>
                </a:lnTo>
                <a:lnTo>
                  <a:pt x="0" y="2226053"/>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Hỗ trợ Offline</a:t>
            </a:r>
          </a:p>
        </p:txBody>
      </p:sp>
      <p:sp>
        <p:nvSpPr>
          <p:cNvPr name="TextBox 13" id="13"/>
          <p:cNvSpPr txBox="true"/>
          <p:nvPr/>
        </p:nvSpPr>
        <p:spPr>
          <a:xfrm rot="0">
            <a:off x="151281" y="2853554"/>
            <a:ext cx="14890787"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-Kh</a:t>
            </a:r>
            <a:r>
              <a:rPr lang="en-US" sz="3000">
                <a:solidFill>
                  <a:srgbClr val="000000"/>
                </a:solidFill>
                <a:latin typeface="Roboto"/>
                <a:ea typeface="Roboto"/>
                <a:cs typeface="Roboto"/>
                <a:sym typeface="Roboto"/>
              </a:rPr>
              <a:t>a</a:t>
            </a:r>
            <a:r>
              <a:rPr lang="en-US" sz="3000">
                <a:solidFill>
                  <a:srgbClr val="000000"/>
                </a:solidFill>
                <a:latin typeface="Roboto"/>
                <a:ea typeface="Roboto"/>
                <a:cs typeface="Roboto"/>
                <a:sym typeface="Roboto"/>
              </a:rPr>
              <a:t>i báo trong hàm Main sử dụng instance Firestore để thao tác với database.</a:t>
            </a:r>
          </a:p>
        </p:txBody>
      </p:sp>
      <p:sp>
        <p:nvSpPr>
          <p:cNvPr name="TextBox 14" id="14"/>
          <p:cNvSpPr txBox="true"/>
          <p:nvPr/>
        </p:nvSpPr>
        <p:spPr>
          <a:xfrm rot="0">
            <a:off x="11889381" y="3522754"/>
            <a:ext cx="5869135" cy="2295525"/>
          </a:xfrm>
          <a:prstGeom prst="rect">
            <a:avLst/>
          </a:prstGeom>
        </p:spPr>
        <p:txBody>
          <a:bodyPr anchor="t" rtlCol="false" tIns="0" lIns="0" bIns="0" rIns="0">
            <a:spAutoFit/>
          </a:bodyPr>
          <a:lstStyle/>
          <a:p>
            <a:pPr algn="l" marL="539753" indent="-269876" lvl="1">
              <a:lnSpc>
                <a:spcPts val="3000"/>
              </a:lnSpc>
              <a:buFont typeface="Arial"/>
              <a:buChar char="•"/>
            </a:pPr>
            <a:r>
              <a:rPr lang="en-US" sz="2500">
                <a:solidFill>
                  <a:srgbClr val="000000"/>
                </a:solidFill>
                <a:latin typeface="Roboto"/>
                <a:ea typeface="Roboto"/>
                <a:cs typeface="Roboto"/>
                <a:sym typeface="Roboto"/>
              </a:rPr>
              <a:t> persistenceEn</a:t>
            </a:r>
            <a:r>
              <a:rPr lang="en-US" sz="2500">
                <a:solidFill>
                  <a:srgbClr val="000000"/>
                </a:solidFill>
                <a:latin typeface="Roboto"/>
                <a:ea typeface="Roboto"/>
                <a:cs typeface="Roboto"/>
                <a:sym typeface="Roboto"/>
              </a:rPr>
              <a:t>abled:</a:t>
            </a:r>
            <a:r>
              <a:rPr lang="en-US" sz="2500">
                <a:solidFill>
                  <a:srgbClr val="000000"/>
                </a:solidFill>
                <a:latin typeface="Roboto"/>
                <a:ea typeface="Roboto"/>
                <a:cs typeface="Roboto"/>
                <a:sym typeface="Roboto"/>
              </a:rPr>
              <a:t> true=&gt; bật lưu trữ offline (dữ liệu cache trên thiết bị).</a:t>
            </a:r>
          </a:p>
          <a:p>
            <a:pPr algn="l" marL="539753" indent="-269876" lvl="1">
              <a:lnSpc>
                <a:spcPts val="3000"/>
              </a:lnSpc>
              <a:buFont typeface="Arial"/>
              <a:buChar char="•"/>
            </a:pPr>
            <a:r>
              <a:rPr lang="en-US" sz="2500">
                <a:solidFill>
                  <a:srgbClr val="000000"/>
                </a:solidFill>
                <a:latin typeface="Roboto"/>
                <a:ea typeface="Roboto"/>
                <a:cs typeface="Roboto"/>
                <a:sym typeface="Roboto"/>
              </a:rPr>
              <a:t>cacheSizeBytes: Settings.CACHE_SIZE_UNLIMITED =&gt;không giới hạn dung lượng cache (mặc định là 40MB).</a:t>
            </a:r>
          </a:p>
        </p:txBody>
      </p:sp>
      <p:sp>
        <p:nvSpPr>
          <p:cNvPr name="TextBox 15" id="15"/>
          <p:cNvSpPr txBox="true"/>
          <p:nvPr/>
        </p:nvSpPr>
        <p:spPr>
          <a:xfrm rot="0">
            <a:off x="151281" y="6018483"/>
            <a:ext cx="3136242"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-Kết quả:</a:t>
            </a:r>
          </a:p>
        </p:txBody>
      </p:sp>
      <p:sp>
        <p:nvSpPr>
          <p:cNvPr name="TextBox 16" id="16"/>
          <p:cNvSpPr txBox="true"/>
          <p:nvPr/>
        </p:nvSpPr>
        <p:spPr>
          <a:xfrm rot="0">
            <a:off x="3287523" y="6751908"/>
            <a:ext cx="9762356" cy="2762250"/>
          </a:xfrm>
          <a:prstGeom prst="rect">
            <a:avLst/>
          </a:prstGeom>
        </p:spPr>
        <p:txBody>
          <a:bodyPr anchor="t" rtlCol="false" tIns="0" lIns="0" bIns="0" rIns="0">
            <a:spAutoFit/>
          </a:bodyPr>
          <a:lstStyle/>
          <a:p>
            <a:pPr algn="l" marL="647700" indent="-323850" lvl="1">
              <a:lnSpc>
                <a:spcPts val="3600"/>
              </a:lnSpc>
              <a:buFont typeface="Arial"/>
              <a:buChar char="•"/>
            </a:pPr>
            <a:r>
              <a:rPr lang="en-US" sz="3000">
                <a:solidFill>
                  <a:srgbClr val="000000"/>
                </a:solidFill>
                <a:latin typeface="Roboto"/>
                <a:ea typeface="Roboto"/>
                <a:cs typeface="Roboto"/>
                <a:sym typeface="Roboto"/>
              </a:rPr>
              <a:t>Khi mất mạng, app vẫn có thể đọc dữ liệu từ cache.</a:t>
            </a:r>
          </a:p>
          <a:p>
            <a:pPr algn="l" marL="647700" indent="-323850" lvl="1">
              <a:lnSpc>
                <a:spcPts val="3600"/>
              </a:lnSpc>
              <a:buFont typeface="Arial"/>
              <a:buChar char="•"/>
            </a:pPr>
            <a:r>
              <a:rPr lang="en-US" sz="3000">
                <a:solidFill>
                  <a:srgbClr val="000000"/>
                </a:solidFill>
                <a:latin typeface="Roboto"/>
                <a:ea typeface="Roboto"/>
                <a:cs typeface="Roboto"/>
                <a:sym typeface="Roboto"/>
              </a:rPr>
              <a:t>Khi có mạng trở lại, Firestore tự đồng bộ dữ liệu với server.</a:t>
            </a:r>
          </a:p>
          <a:p>
            <a:pPr algn="l" marL="647700" indent="-323850" lvl="1">
              <a:lnSpc>
                <a:spcPts val="3600"/>
              </a:lnSpc>
              <a:buFont typeface="Arial"/>
              <a:buChar char="•"/>
            </a:pPr>
            <a:r>
              <a:rPr lang="en-US" sz="3000">
                <a:solidFill>
                  <a:srgbClr val="000000"/>
                </a:solidFill>
                <a:latin typeface="Roboto"/>
                <a:ea typeface="Roboto"/>
                <a:cs typeface="Roboto"/>
                <a:sym typeface="Roboto"/>
              </a:rPr>
              <a:t>Kết hợp với snapshots(): </a:t>
            </a:r>
          </a:p>
          <a:p>
            <a:pPr algn="l">
              <a:lnSpc>
                <a:spcPts val="3600"/>
              </a:lnSpc>
            </a:pPr>
            <a:r>
              <a:rPr lang="en-US" sz="3000">
                <a:solidFill>
                  <a:srgbClr val="000000"/>
                </a:solidFill>
                <a:latin typeface="Roboto"/>
                <a:ea typeface="Roboto"/>
                <a:cs typeface="Roboto"/>
                <a:sym typeface="Roboto"/>
              </a:rPr>
              <a:t>=&gt; Stream vẫn hoạt động bình thường, dữ liệu UI tự cập nhật.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908900" y="3235000"/>
            <a:ext cx="121908" cy="121908"/>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5" id="5"/>
          <p:cNvGrpSpPr/>
          <p:nvPr/>
        </p:nvGrpSpPr>
        <p:grpSpPr>
          <a:xfrm rot="0">
            <a:off x="10055579" y="7995212"/>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7" id="7"/>
          <p:cNvGrpSpPr/>
          <p:nvPr/>
        </p:nvGrpSpPr>
        <p:grpSpPr>
          <a:xfrm rot="0">
            <a:off x="6873127" y="7799872"/>
            <a:ext cx="4541746" cy="2163680"/>
            <a:chOff x="0" y="0"/>
            <a:chExt cx="1892461" cy="901566"/>
          </a:xfrm>
        </p:grpSpPr>
        <p:sp>
          <p:nvSpPr>
            <p:cNvPr name="Freeform 8" id="8"/>
            <p:cNvSpPr/>
            <p:nvPr/>
          </p:nvSpPr>
          <p:spPr>
            <a:xfrm flipH="false" flipV="false" rot="0">
              <a:off x="0" y="0"/>
              <a:ext cx="1892461" cy="901566"/>
            </a:xfrm>
            <a:custGeom>
              <a:avLst/>
              <a:gdLst/>
              <a:ahLst/>
              <a:cxnLst/>
              <a:rect r="r" b="b" t="t" l="l"/>
              <a:pathLst>
                <a:path h="901566" w="1892461">
                  <a:moveTo>
                    <a:pt x="0" y="0"/>
                  </a:moveTo>
                  <a:lnTo>
                    <a:pt x="1892461" y="0"/>
                  </a:lnTo>
                  <a:lnTo>
                    <a:pt x="1892461" y="901566"/>
                  </a:lnTo>
                  <a:lnTo>
                    <a:pt x="0" y="901566"/>
                  </a:lnTo>
                  <a:close/>
                </a:path>
              </a:pathLst>
            </a:custGeom>
            <a:solidFill>
              <a:srgbClr val="FFFFFF"/>
            </a:solidFill>
          </p:spPr>
        </p:sp>
      </p:grpSp>
      <p:grpSp>
        <p:nvGrpSpPr>
          <p:cNvPr name="Group 9" id="9"/>
          <p:cNvGrpSpPr/>
          <p:nvPr/>
        </p:nvGrpSpPr>
        <p:grpSpPr>
          <a:xfrm rot="0">
            <a:off x="804034" y="672702"/>
            <a:ext cx="16679931" cy="9112844"/>
            <a:chOff x="0" y="0"/>
            <a:chExt cx="6950218" cy="3797153"/>
          </a:xfrm>
        </p:grpSpPr>
        <p:sp>
          <p:nvSpPr>
            <p:cNvPr name="Freeform 10" id="10"/>
            <p:cNvSpPr/>
            <p:nvPr/>
          </p:nvSpPr>
          <p:spPr>
            <a:xfrm flipH="false" flipV="false" rot="0">
              <a:off x="0" y="0"/>
              <a:ext cx="6950218" cy="3797153"/>
            </a:xfrm>
            <a:custGeom>
              <a:avLst/>
              <a:gdLst/>
              <a:ahLst/>
              <a:cxnLst/>
              <a:rect r="r" b="b" t="t" l="l"/>
              <a:pathLst>
                <a:path h="3797153" w="6950218">
                  <a:moveTo>
                    <a:pt x="0" y="0"/>
                  </a:moveTo>
                  <a:lnTo>
                    <a:pt x="6950218" y="0"/>
                  </a:lnTo>
                  <a:lnTo>
                    <a:pt x="6950218" y="3797153"/>
                  </a:lnTo>
                  <a:lnTo>
                    <a:pt x="0" y="3797153"/>
                  </a:lnTo>
                  <a:close/>
                </a:path>
              </a:pathLst>
            </a:custGeom>
            <a:solidFill>
              <a:srgbClr val="FFFFFF"/>
            </a:solidFill>
          </p:spPr>
        </p:sp>
      </p:grpSp>
      <p:sp>
        <p:nvSpPr>
          <p:cNvPr name="Freeform 11" id="11"/>
          <p:cNvSpPr/>
          <p:nvPr/>
        </p:nvSpPr>
        <p:spPr>
          <a:xfrm flipH="false" flipV="false" rot="0">
            <a:off x="13414943" y="1243644"/>
            <a:ext cx="3844357" cy="1052393"/>
          </a:xfrm>
          <a:custGeom>
            <a:avLst/>
            <a:gdLst/>
            <a:ahLst/>
            <a:cxnLst/>
            <a:rect r="r" b="b" t="t" l="l"/>
            <a:pathLst>
              <a:path h="1052393" w="3844357">
                <a:moveTo>
                  <a:pt x="0" y="0"/>
                </a:moveTo>
                <a:lnTo>
                  <a:pt x="3844357" y="0"/>
                </a:lnTo>
                <a:lnTo>
                  <a:pt x="3844357" y="1052392"/>
                </a:lnTo>
                <a:lnTo>
                  <a:pt x="0" y="1052392"/>
                </a:lnTo>
                <a:lnTo>
                  <a:pt x="0" y="0"/>
                </a:lnTo>
                <a:close/>
              </a:path>
            </a:pathLst>
          </a:custGeom>
          <a:blipFill>
            <a:blip r:embed="rId3"/>
            <a:stretch>
              <a:fillRect l="0" t="0" r="0" b="0"/>
            </a:stretch>
          </a:blipFill>
        </p:spPr>
      </p:sp>
      <p:sp>
        <p:nvSpPr>
          <p:cNvPr name="Freeform 12" id="12"/>
          <p:cNvSpPr/>
          <p:nvPr/>
        </p:nvSpPr>
        <p:spPr>
          <a:xfrm flipH="false" flipV="false" rot="0">
            <a:off x="6337570" y="7470563"/>
            <a:ext cx="4429556" cy="2034329"/>
          </a:xfrm>
          <a:custGeom>
            <a:avLst/>
            <a:gdLst/>
            <a:ahLst/>
            <a:cxnLst/>
            <a:rect r="r" b="b" t="t" l="l"/>
            <a:pathLst>
              <a:path h="2034329" w="4429556">
                <a:moveTo>
                  <a:pt x="0" y="0"/>
                </a:moveTo>
                <a:lnTo>
                  <a:pt x="4429556" y="0"/>
                </a:lnTo>
                <a:lnTo>
                  <a:pt x="4429556" y="2034329"/>
                </a:lnTo>
                <a:lnTo>
                  <a:pt x="0" y="2034329"/>
                </a:lnTo>
                <a:lnTo>
                  <a:pt x="0" y="0"/>
                </a:lnTo>
                <a:close/>
              </a:path>
            </a:pathLst>
          </a:custGeom>
          <a:blipFill>
            <a:blip r:embed="rId4"/>
            <a:stretch>
              <a:fillRect l="-11650" t="-10103" r="-14980" b="-6735"/>
            </a:stretch>
          </a:blipFill>
        </p:spPr>
      </p:sp>
      <p:sp>
        <p:nvSpPr>
          <p:cNvPr name="Freeform 13" id="13"/>
          <p:cNvSpPr/>
          <p:nvPr/>
        </p:nvSpPr>
        <p:spPr>
          <a:xfrm flipH="false" flipV="false" rot="0">
            <a:off x="544612" y="526196"/>
            <a:ext cx="6064349" cy="2487287"/>
          </a:xfrm>
          <a:custGeom>
            <a:avLst/>
            <a:gdLst/>
            <a:ahLst/>
            <a:cxnLst/>
            <a:rect r="r" b="b" t="t" l="l"/>
            <a:pathLst>
              <a:path h="2487287" w="6064349">
                <a:moveTo>
                  <a:pt x="0" y="0"/>
                </a:moveTo>
                <a:lnTo>
                  <a:pt x="6064349" y="0"/>
                </a:lnTo>
                <a:lnTo>
                  <a:pt x="6064349" y="2487287"/>
                </a:lnTo>
                <a:lnTo>
                  <a:pt x="0" y="2487287"/>
                </a:lnTo>
                <a:lnTo>
                  <a:pt x="0" y="0"/>
                </a:lnTo>
                <a:close/>
              </a:path>
            </a:pathLst>
          </a:custGeom>
          <a:blipFill>
            <a:blip r:embed="rId5"/>
            <a:stretch>
              <a:fillRect l="0" t="-10953" r="0" b="-10953"/>
            </a:stretch>
          </a:blipFill>
        </p:spPr>
      </p:sp>
      <p:sp>
        <p:nvSpPr>
          <p:cNvPr name="Freeform 14" id="14"/>
          <p:cNvSpPr/>
          <p:nvPr/>
        </p:nvSpPr>
        <p:spPr>
          <a:xfrm flipH="false" flipV="false" rot="-278358">
            <a:off x="12662556" y="8722038"/>
            <a:ext cx="5868613" cy="1845945"/>
          </a:xfrm>
          <a:custGeom>
            <a:avLst/>
            <a:gdLst/>
            <a:ahLst/>
            <a:cxnLst/>
            <a:rect r="r" b="b" t="t" l="l"/>
            <a:pathLst>
              <a:path h="1845945" w="5868613">
                <a:moveTo>
                  <a:pt x="0" y="0"/>
                </a:moveTo>
                <a:lnTo>
                  <a:pt x="5868613" y="0"/>
                </a:lnTo>
                <a:lnTo>
                  <a:pt x="5868613" y="1845945"/>
                </a:lnTo>
                <a:lnTo>
                  <a:pt x="0" y="1845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278358">
            <a:off x="30544" y="92749"/>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571780" y="3095929"/>
            <a:ext cx="13643669" cy="3489326"/>
          </a:xfrm>
          <a:prstGeom prst="rect">
            <a:avLst/>
          </a:prstGeom>
        </p:spPr>
        <p:txBody>
          <a:bodyPr anchor="t" rtlCol="false" tIns="0" lIns="0" bIns="0" rIns="0">
            <a:spAutoFit/>
          </a:bodyPr>
          <a:lstStyle/>
          <a:p>
            <a:pPr algn="ctr">
              <a:lnSpc>
                <a:spcPts val="13999"/>
              </a:lnSpc>
              <a:spcBef>
                <a:spcPct val="0"/>
              </a:spcBef>
            </a:pPr>
            <a:r>
              <a:rPr lang="en-US" b="true" sz="9999" spc="-819">
                <a:solidFill>
                  <a:srgbClr val="003EA8"/>
                </a:solidFill>
                <a:latin typeface="Roboto Bold"/>
                <a:ea typeface="Roboto Bold"/>
                <a:cs typeface="Roboto Bold"/>
                <a:sym typeface="Roboto Bold"/>
              </a:rPr>
              <a:t>Phân</a:t>
            </a:r>
            <a:r>
              <a:rPr lang="en-US" b="true" sz="9999" spc="-819">
                <a:solidFill>
                  <a:srgbClr val="003EA8"/>
                </a:solidFill>
                <a:latin typeface="Roboto Bold"/>
                <a:ea typeface="Roboto Bold"/>
                <a:cs typeface="Roboto Bold"/>
                <a:sym typeface="Roboto Bold"/>
              </a:rPr>
              <a:t> trang dữ liệu và mô hình dữ liệu</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4435074" y="5646671"/>
            <a:ext cx="8380566" cy="3148255"/>
          </a:xfrm>
          <a:custGeom>
            <a:avLst/>
            <a:gdLst/>
            <a:ahLst/>
            <a:cxnLst/>
            <a:rect r="r" b="b" t="t" l="l"/>
            <a:pathLst>
              <a:path h="3148255" w="8380566">
                <a:moveTo>
                  <a:pt x="0" y="0"/>
                </a:moveTo>
                <a:lnTo>
                  <a:pt x="8380566" y="0"/>
                </a:lnTo>
                <a:lnTo>
                  <a:pt x="8380566" y="3148254"/>
                </a:lnTo>
                <a:lnTo>
                  <a:pt x="0" y="3148254"/>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Phân trang dữ liệu</a:t>
            </a:r>
          </a:p>
        </p:txBody>
      </p:sp>
      <p:sp>
        <p:nvSpPr>
          <p:cNvPr name="TextBox 13" id="13"/>
          <p:cNvSpPr txBox="true"/>
          <p:nvPr/>
        </p:nvSpPr>
        <p:spPr>
          <a:xfrm rot="0">
            <a:off x="737402" y="2960152"/>
            <a:ext cx="12985437"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Sử dụng Client-side Pagination để phân trang thông qua các bước:</a:t>
            </a:r>
          </a:p>
        </p:txBody>
      </p:sp>
      <p:sp>
        <p:nvSpPr>
          <p:cNvPr name="TextBox 14" id="14"/>
          <p:cNvSpPr txBox="true"/>
          <p:nvPr/>
        </p:nvSpPr>
        <p:spPr>
          <a:xfrm rot="0">
            <a:off x="737402" y="3912142"/>
            <a:ext cx="9562541"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1. Lấy toàn bộ danh sách sản phẩm bằng Stream.</a:t>
            </a:r>
          </a:p>
        </p:txBody>
      </p:sp>
      <p:sp>
        <p:nvSpPr>
          <p:cNvPr name="TextBox 15" id="15"/>
          <p:cNvSpPr txBox="true"/>
          <p:nvPr/>
        </p:nvSpPr>
        <p:spPr>
          <a:xfrm rot="0">
            <a:off x="737402" y="4713221"/>
            <a:ext cx="15313402" cy="9334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2. Dữ liệu sau khi nhận được sẽ được chia thành từng “trang” nhỏ ngay trong ứng dụng bằng các phép sau:</a:t>
            </a:r>
          </a:p>
        </p:txBody>
      </p:sp>
      <p:sp>
        <p:nvSpPr>
          <p:cNvPr name="TextBox 16" id="16"/>
          <p:cNvSpPr txBox="true"/>
          <p:nvPr/>
        </p:nvSpPr>
        <p:spPr>
          <a:xfrm rot="0">
            <a:off x="737402" y="8877298"/>
            <a:ext cx="13561921" cy="476250"/>
          </a:xfrm>
          <a:prstGeom prst="rect">
            <a:avLst/>
          </a:prstGeom>
        </p:spPr>
        <p:txBody>
          <a:bodyPr anchor="t" rtlCol="false" tIns="0" lIns="0" bIns="0" rIns="0">
            <a:spAutoFit/>
          </a:bodyPr>
          <a:lstStyle/>
          <a:p>
            <a:pPr algn="l">
              <a:lnSpc>
                <a:spcPts val="3600"/>
              </a:lnSpc>
            </a:pPr>
            <a:r>
              <a:rPr lang="en-US" sz="3000">
                <a:solidFill>
                  <a:srgbClr val="000000"/>
                </a:solidFill>
                <a:latin typeface="Roboto"/>
                <a:ea typeface="Roboto"/>
                <a:cs typeface="Roboto"/>
                <a:sym typeface="Roboto"/>
              </a:rPr>
              <a:t>3. Giao diện hiển thị các nút chọn trang (1, 2, 3, ...) để người dùng điều hướng.</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1384137" y="3604143"/>
            <a:ext cx="4666667" cy="4539394"/>
          </a:xfrm>
          <a:custGeom>
            <a:avLst/>
            <a:gdLst/>
            <a:ahLst/>
            <a:cxnLst/>
            <a:rect r="r" b="b" t="t" l="l"/>
            <a:pathLst>
              <a:path h="4539394" w="4666667">
                <a:moveTo>
                  <a:pt x="0" y="0"/>
                </a:moveTo>
                <a:lnTo>
                  <a:pt x="4666667" y="0"/>
                </a:lnTo>
                <a:lnTo>
                  <a:pt x="4666667" y="4539394"/>
                </a:lnTo>
                <a:lnTo>
                  <a:pt x="0" y="45393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Mô hình dữ liệu</a:t>
            </a:r>
          </a:p>
        </p:txBody>
      </p:sp>
      <p:sp>
        <p:nvSpPr>
          <p:cNvPr name="TextBox 13" id="13"/>
          <p:cNvSpPr txBox="true"/>
          <p:nvPr/>
        </p:nvSpPr>
        <p:spPr>
          <a:xfrm rot="0">
            <a:off x="1408729" y="5531231"/>
            <a:ext cx="6052691" cy="2305050"/>
          </a:xfrm>
          <a:prstGeom prst="rect">
            <a:avLst/>
          </a:prstGeom>
        </p:spPr>
        <p:txBody>
          <a:bodyPr anchor="t" rtlCol="false" tIns="0" lIns="0" bIns="0" rIns="0">
            <a:spAutoFit/>
          </a:bodyPr>
          <a:lstStyle/>
          <a:p>
            <a:pPr algn="l" marL="647700" indent="-323850" lvl="1">
              <a:lnSpc>
                <a:spcPts val="3600"/>
              </a:lnSpc>
              <a:buFont typeface="Arial"/>
              <a:buChar char="•"/>
            </a:pPr>
            <a:r>
              <a:rPr lang="en-US" sz="3000">
                <a:solidFill>
                  <a:srgbClr val="000000"/>
                </a:solidFill>
                <a:latin typeface="Roboto"/>
                <a:ea typeface="Roboto"/>
                <a:cs typeface="Roboto"/>
                <a:sym typeface="Roboto"/>
              </a:rPr>
              <a:t>Id: Mã sản phẩm (Firestore tạo).</a:t>
            </a:r>
          </a:p>
          <a:p>
            <a:pPr algn="l" marL="647700" indent="-323850" lvl="1">
              <a:lnSpc>
                <a:spcPts val="3600"/>
              </a:lnSpc>
              <a:buFont typeface="Arial"/>
              <a:buChar char="•"/>
            </a:pPr>
            <a:r>
              <a:rPr lang="en-US" sz="3000">
                <a:solidFill>
                  <a:srgbClr val="000000"/>
                </a:solidFill>
                <a:latin typeface="Roboto"/>
                <a:ea typeface="Roboto"/>
                <a:cs typeface="Roboto"/>
                <a:sym typeface="Roboto"/>
              </a:rPr>
              <a:t>Name: Tên sản phẩm.</a:t>
            </a:r>
          </a:p>
          <a:p>
            <a:pPr algn="l" marL="647700" indent="-323850" lvl="1">
              <a:lnSpc>
                <a:spcPts val="3600"/>
              </a:lnSpc>
              <a:buFont typeface="Arial"/>
              <a:buChar char="•"/>
            </a:pPr>
            <a:r>
              <a:rPr lang="en-US" sz="3000">
                <a:solidFill>
                  <a:srgbClr val="000000"/>
                </a:solidFill>
                <a:latin typeface="Roboto"/>
                <a:ea typeface="Roboto"/>
                <a:cs typeface="Roboto"/>
                <a:sym typeface="Roboto"/>
              </a:rPr>
              <a:t>Price: Giá sản phẩm.</a:t>
            </a:r>
          </a:p>
          <a:p>
            <a:pPr algn="l" marL="647700" indent="-323850" lvl="1">
              <a:lnSpc>
                <a:spcPts val="3600"/>
              </a:lnSpc>
              <a:buFont typeface="Arial"/>
              <a:buChar char="•"/>
            </a:pPr>
            <a:r>
              <a:rPr lang="en-US" sz="3000">
                <a:solidFill>
                  <a:srgbClr val="000000"/>
                </a:solidFill>
                <a:latin typeface="Roboto"/>
                <a:ea typeface="Roboto"/>
                <a:cs typeface="Roboto"/>
                <a:sym typeface="Roboto"/>
              </a:rPr>
              <a:t>Category: Danh mục sản phẩm.</a:t>
            </a:r>
          </a:p>
          <a:p>
            <a:pPr algn="ctr">
              <a:lnSpc>
                <a:spcPts val="3600"/>
              </a:lnSpc>
              <a:spcBef>
                <a:spcPct val="0"/>
              </a:spcBef>
            </a:pPr>
          </a:p>
        </p:txBody>
      </p:sp>
      <p:sp>
        <p:nvSpPr>
          <p:cNvPr name="TextBox 14" id="14"/>
          <p:cNvSpPr txBox="true"/>
          <p:nvPr/>
        </p:nvSpPr>
        <p:spPr>
          <a:xfrm rot="0">
            <a:off x="895970" y="3585093"/>
            <a:ext cx="9850470" cy="13906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Trong F</a:t>
            </a:r>
            <a:r>
              <a:rPr lang="en-US" sz="3000">
                <a:solidFill>
                  <a:srgbClr val="000000"/>
                </a:solidFill>
                <a:latin typeface="Roboto"/>
                <a:ea typeface="Roboto"/>
                <a:cs typeface="Roboto"/>
                <a:sym typeface="Roboto"/>
              </a:rPr>
              <a:t>irestore, dữ liệu được lưu trữ theo dạng Collection (bộ sưu tập) và Document (tài liệu). Mỗi sản phẩm được lưu trong collection products với các trường cơ bản.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80808" y="4373880"/>
            <a:ext cx="5405683" cy="4671065"/>
          </a:xfrm>
          <a:custGeom>
            <a:avLst/>
            <a:gdLst/>
            <a:ahLst/>
            <a:cxnLst/>
            <a:rect r="r" b="b" t="t" l="l"/>
            <a:pathLst>
              <a:path h="4671065" w="5405683">
                <a:moveTo>
                  <a:pt x="0" y="0"/>
                </a:moveTo>
                <a:lnTo>
                  <a:pt x="5405683" y="0"/>
                </a:lnTo>
                <a:lnTo>
                  <a:pt x="5405683" y="4671065"/>
                </a:lnTo>
                <a:lnTo>
                  <a:pt x="0" y="4671065"/>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Mô hình dữ liệu</a:t>
            </a:r>
          </a:p>
        </p:txBody>
      </p:sp>
      <p:sp>
        <p:nvSpPr>
          <p:cNvPr name="TextBox 13" id="13"/>
          <p:cNvSpPr txBox="true"/>
          <p:nvPr/>
        </p:nvSpPr>
        <p:spPr>
          <a:xfrm rot="0">
            <a:off x="895970" y="2904328"/>
            <a:ext cx="13375321" cy="476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Để dễ quản lý</a:t>
            </a:r>
            <a:r>
              <a:rPr lang="en-US" sz="3000">
                <a:solidFill>
                  <a:srgbClr val="000000"/>
                </a:solidFill>
                <a:latin typeface="Roboto"/>
                <a:ea typeface="Roboto"/>
                <a:cs typeface="Roboto"/>
                <a:sym typeface="Roboto"/>
              </a:rPr>
              <a:t> dữ liệu giữa Flutter và Firestore, lớp Product được tạo như sau:</a:t>
            </a:r>
          </a:p>
        </p:txBody>
      </p:sp>
      <p:sp>
        <p:nvSpPr>
          <p:cNvPr name="TextBox 14" id="14"/>
          <p:cNvSpPr txBox="true"/>
          <p:nvPr/>
        </p:nvSpPr>
        <p:spPr>
          <a:xfrm rot="0">
            <a:off x="1028700" y="3545300"/>
            <a:ext cx="4792505" cy="476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1.Kha</a:t>
            </a:r>
            <a:r>
              <a:rPr lang="en-US" sz="3000">
                <a:solidFill>
                  <a:srgbClr val="000000"/>
                </a:solidFill>
                <a:latin typeface="Roboto"/>
                <a:ea typeface="Roboto"/>
                <a:cs typeface="Roboto"/>
                <a:sym typeface="Roboto"/>
              </a:rPr>
              <a:t>i báo lớp và thuộc tính:</a:t>
            </a:r>
          </a:p>
        </p:txBody>
      </p:sp>
      <p:sp>
        <p:nvSpPr>
          <p:cNvPr name="TextBox 15" id="15"/>
          <p:cNvSpPr txBox="true"/>
          <p:nvPr/>
        </p:nvSpPr>
        <p:spPr>
          <a:xfrm rot="0">
            <a:off x="7290860" y="5705356"/>
            <a:ext cx="8347612" cy="13906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Định nghĩa cấu trúc cơ</a:t>
            </a:r>
            <a:r>
              <a:rPr lang="en-US" sz="3000">
                <a:solidFill>
                  <a:srgbClr val="000000"/>
                </a:solidFill>
                <a:latin typeface="Roboto"/>
                <a:ea typeface="Roboto"/>
                <a:cs typeface="Roboto"/>
                <a:sym typeface="Roboto"/>
              </a:rPr>
              <a:t> bản của sản phẩm, gồm bốn thuộc tính: id, name, price và category.</a:t>
            </a:r>
          </a:p>
          <a:p>
            <a:pPr algn="l">
              <a:lnSpc>
                <a:spcPts val="3600"/>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46999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895970" y="4566471"/>
            <a:ext cx="11134850" cy="3249112"/>
          </a:xfrm>
          <a:custGeom>
            <a:avLst/>
            <a:gdLst/>
            <a:ahLst/>
            <a:cxnLst/>
            <a:rect r="r" b="b" t="t" l="l"/>
            <a:pathLst>
              <a:path h="3249112" w="11134850">
                <a:moveTo>
                  <a:pt x="0" y="0"/>
                </a:moveTo>
                <a:lnTo>
                  <a:pt x="11134850" y="0"/>
                </a:lnTo>
                <a:lnTo>
                  <a:pt x="11134850" y="3249112"/>
                </a:lnTo>
                <a:lnTo>
                  <a:pt x="0" y="3249112"/>
                </a:lnTo>
                <a:lnTo>
                  <a:pt x="0" y="0"/>
                </a:lnTo>
                <a:close/>
              </a:path>
            </a:pathLst>
          </a:custGeom>
          <a:blipFill>
            <a:blip r:embed="rId7"/>
            <a:stretch>
              <a:fillRect l="0" t="0" r="-1494"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Mô hình dữ liệu</a:t>
            </a:r>
          </a:p>
        </p:txBody>
      </p:sp>
      <p:sp>
        <p:nvSpPr>
          <p:cNvPr name="TextBox 13" id="13"/>
          <p:cNvSpPr txBox="true"/>
          <p:nvPr/>
        </p:nvSpPr>
        <p:spPr>
          <a:xfrm rot="0">
            <a:off x="1119469" y="3132386"/>
            <a:ext cx="7914071" cy="476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2.Chuyển </a:t>
            </a:r>
            <a:r>
              <a:rPr lang="en-US" sz="3000">
                <a:solidFill>
                  <a:srgbClr val="000000"/>
                </a:solidFill>
                <a:latin typeface="Roboto"/>
                <a:ea typeface="Roboto"/>
                <a:cs typeface="Roboto"/>
                <a:sym typeface="Roboto"/>
              </a:rPr>
              <a:t>từ FireStore qua đối tượng product:</a:t>
            </a:r>
          </a:p>
        </p:txBody>
      </p:sp>
      <p:sp>
        <p:nvSpPr>
          <p:cNvPr name="TextBox 14" id="14"/>
          <p:cNvSpPr txBox="true"/>
          <p:nvPr/>
        </p:nvSpPr>
        <p:spPr>
          <a:xfrm rot="0">
            <a:off x="12151069" y="4929248"/>
            <a:ext cx="5108231" cy="2743200"/>
          </a:xfrm>
          <a:prstGeom prst="rect">
            <a:avLst/>
          </a:prstGeom>
        </p:spPr>
        <p:txBody>
          <a:bodyPr anchor="t" rtlCol="false" tIns="0" lIns="0" bIns="0" rIns="0">
            <a:spAutoFit/>
          </a:bodyPr>
          <a:lstStyle/>
          <a:p>
            <a:pPr algn="just" marL="561342" indent="-280671" lvl="1">
              <a:lnSpc>
                <a:spcPts val="3120"/>
              </a:lnSpc>
              <a:buFont typeface="Arial"/>
              <a:buChar char="•"/>
            </a:pPr>
            <a:r>
              <a:rPr lang="en-US" sz="2600">
                <a:solidFill>
                  <a:srgbClr val="000000"/>
                </a:solidFill>
                <a:latin typeface="Roboto"/>
                <a:ea typeface="Roboto"/>
                <a:cs typeface="Roboto"/>
                <a:sym typeface="Roboto"/>
              </a:rPr>
              <a:t>Dùng để đọc dữ liệu từ Firestore và chuyển thành</a:t>
            </a:r>
            <a:r>
              <a:rPr lang="en-US" sz="2600">
                <a:solidFill>
                  <a:srgbClr val="000000"/>
                </a:solidFill>
                <a:latin typeface="Roboto"/>
                <a:ea typeface="Roboto"/>
                <a:cs typeface="Roboto"/>
                <a:sym typeface="Roboto"/>
              </a:rPr>
              <a:t> một đối tượng Product trong ứng dụng Flutter.</a:t>
            </a:r>
          </a:p>
          <a:p>
            <a:pPr algn="just" marL="561342" indent="-280671" lvl="1">
              <a:lnSpc>
                <a:spcPts val="3120"/>
              </a:lnSpc>
              <a:buFont typeface="Arial"/>
              <a:buChar char="•"/>
            </a:pPr>
            <a:r>
              <a:rPr lang="en-US" sz="2600">
                <a:solidFill>
                  <a:srgbClr val="000000"/>
                </a:solidFill>
                <a:latin typeface="Roboto"/>
                <a:ea typeface="Roboto"/>
                <a:cs typeface="Roboto"/>
                <a:sym typeface="Roboto"/>
              </a:rPr>
              <a:t>Nếu trường nào thiếu, sẽ được gán giá trị mặc định an toàn (rỗng hoặc 0).</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46999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119469" y="4529477"/>
            <a:ext cx="9291191" cy="3852093"/>
          </a:xfrm>
          <a:custGeom>
            <a:avLst/>
            <a:gdLst/>
            <a:ahLst/>
            <a:cxnLst/>
            <a:rect r="r" b="b" t="t" l="l"/>
            <a:pathLst>
              <a:path h="3852093" w="9291191">
                <a:moveTo>
                  <a:pt x="0" y="0"/>
                </a:moveTo>
                <a:lnTo>
                  <a:pt x="9291190" y="0"/>
                </a:lnTo>
                <a:lnTo>
                  <a:pt x="9291190" y="3852093"/>
                </a:lnTo>
                <a:lnTo>
                  <a:pt x="0" y="3852093"/>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Mô hình dữ liệu</a:t>
            </a:r>
          </a:p>
        </p:txBody>
      </p:sp>
      <p:sp>
        <p:nvSpPr>
          <p:cNvPr name="TextBox 13" id="13"/>
          <p:cNvSpPr txBox="true"/>
          <p:nvPr/>
        </p:nvSpPr>
        <p:spPr>
          <a:xfrm rot="0">
            <a:off x="1119469" y="3132386"/>
            <a:ext cx="8973039" cy="476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3. Chuyển </a:t>
            </a:r>
            <a:r>
              <a:rPr lang="en-US" sz="3000">
                <a:solidFill>
                  <a:srgbClr val="000000"/>
                </a:solidFill>
                <a:latin typeface="Roboto"/>
                <a:ea typeface="Roboto"/>
                <a:cs typeface="Roboto"/>
                <a:sym typeface="Roboto"/>
              </a:rPr>
              <a:t>từ product sang Map để lưu vào Firestore:</a:t>
            </a:r>
          </a:p>
        </p:txBody>
      </p:sp>
      <p:sp>
        <p:nvSpPr>
          <p:cNvPr name="TextBox 14" id="14"/>
          <p:cNvSpPr txBox="true"/>
          <p:nvPr/>
        </p:nvSpPr>
        <p:spPr>
          <a:xfrm rot="0">
            <a:off x="10764419" y="5664949"/>
            <a:ext cx="5577203" cy="1571625"/>
          </a:xfrm>
          <a:prstGeom prst="rect">
            <a:avLst/>
          </a:prstGeom>
        </p:spPr>
        <p:txBody>
          <a:bodyPr anchor="t" rtlCol="false" tIns="0" lIns="0" bIns="0" rIns="0">
            <a:spAutoFit/>
          </a:bodyPr>
          <a:lstStyle/>
          <a:p>
            <a:pPr algn="just" marL="561342" indent="-280671" lvl="1">
              <a:lnSpc>
                <a:spcPts val="3120"/>
              </a:lnSpc>
              <a:buFont typeface="Arial"/>
              <a:buChar char="•"/>
            </a:pPr>
            <a:r>
              <a:rPr lang="en-US" sz="2600">
                <a:solidFill>
                  <a:srgbClr val="000000"/>
                </a:solidFill>
                <a:latin typeface="Roboto"/>
                <a:ea typeface="Roboto"/>
                <a:cs typeface="Roboto"/>
                <a:sym typeface="Roboto"/>
              </a:rPr>
              <a:t>Hàm này làm ngược lại: biến</a:t>
            </a:r>
            <a:r>
              <a:rPr lang="en-US" sz="2600">
                <a:solidFill>
                  <a:srgbClr val="000000"/>
                </a:solidFill>
                <a:latin typeface="Roboto"/>
                <a:ea typeface="Roboto"/>
                <a:cs typeface="Roboto"/>
                <a:sym typeface="Roboto"/>
              </a:rPr>
              <a:t> đối tượng Product thành Map để dễ dàng lưu trữ lên Firestore bằng phương thức add() hoặc set().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908900" y="3235000"/>
            <a:ext cx="121908" cy="121908"/>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5" id="5"/>
          <p:cNvGrpSpPr/>
          <p:nvPr/>
        </p:nvGrpSpPr>
        <p:grpSpPr>
          <a:xfrm rot="0">
            <a:off x="10055579" y="7995212"/>
            <a:ext cx="121908" cy="121908"/>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7" id="7"/>
          <p:cNvGrpSpPr/>
          <p:nvPr/>
        </p:nvGrpSpPr>
        <p:grpSpPr>
          <a:xfrm rot="0">
            <a:off x="6873127" y="7799872"/>
            <a:ext cx="4541746" cy="2163680"/>
            <a:chOff x="0" y="0"/>
            <a:chExt cx="1892461" cy="901566"/>
          </a:xfrm>
        </p:grpSpPr>
        <p:sp>
          <p:nvSpPr>
            <p:cNvPr name="Freeform 8" id="8"/>
            <p:cNvSpPr/>
            <p:nvPr/>
          </p:nvSpPr>
          <p:spPr>
            <a:xfrm flipH="false" flipV="false" rot="0">
              <a:off x="0" y="0"/>
              <a:ext cx="1892461" cy="901566"/>
            </a:xfrm>
            <a:custGeom>
              <a:avLst/>
              <a:gdLst/>
              <a:ahLst/>
              <a:cxnLst/>
              <a:rect r="r" b="b" t="t" l="l"/>
              <a:pathLst>
                <a:path h="901566" w="1892461">
                  <a:moveTo>
                    <a:pt x="0" y="0"/>
                  </a:moveTo>
                  <a:lnTo>
                    <a:pt x="1892461" y="0"/>
                  </a:lnTo>
                  <a:lnTo>
                    <a:pt x="1892461" y="901566"/>
                  </a:lnTo>
                  <a:lnTo>
                    <a:pt x="0" y="901566"/>
                  </a:lnTo>
                  <a:close/>
                </a:path>
              </a:pathLst>
            </a:custGeom>
            <a:solidFill>
              <a:srgbClr val="FFFFFF"/>
            </a:solidFill>
          </p:spPr>
        </p:sp>
      </p:grpSp>
      <p:grpSp>
        <p:nvGrpSpPr>
          <p:cNvPr name="Group 9" id="9"/>
          <p:cNvGrpSpPr/>
          <p:nvPr/>
        </p:nvGrpSpPr>
        <p:grpSpPr>
          <a:xfrm rot="0">
            <a:off x="804034" y="672702"/>
            <a:ext cx="16679931" cy="9112844"/>
            <a:chOff x="0" y="0"/>
            <a:chExt cx="6950218" cy="3797153"/>
          </a:xfrm>
        </p:grpSpPr>
        <p:sp>
          <p:nvSpPr>
            <p:cNvPr name="Freeform 10" id="10"/>
            <p:cNvSpPr/>
            <p:nvPr/>
          </p:nvSpPr>
          <p:spPr>
            <a:xfrm flipH="false" flipV="false" rot="0">
              <a:off x="0" y="0"/>
              <a:ext cx="6950218" cy="3797153"/>
            </a:xfrm>
            <a:custGeom>
              <a:avLst/>
              <a:gdLst/>
              <a:ahLst/>
              <a:cxnLst/>
              <a:rect r="r" b="b" t="t" l="l"/>
              <a:pathLst>
                <a:path h="3797153" w="6950218">
                  <a:moveTo>
                    <a:pt x="0" y="0"/>
                  </a:moveTo>
                  <a:lnTo>
                    <a:pt x="6950218" y="0"/>
                  </a:lnTo>
                  <a:lnTo>
                    <a:pt x="6950218" y="3797153"/>
                  </a:lnTo>
                  <a:lnTo>
                    <a:pt x="0" y="3797153"/>
                  </a:lnTo>
                  <a:close/>
                </a:path>
              </a:pathLst>
            </a:custGeom>
            <a:solidFill>
              <a:srgbClr val="FFFFFF"/>
            </a:solidFill>
          </p:spPr>
        </p:sp>
      </p:grpSp>
      <p:sp>
        <p:nvSpPr>
          <p:cNvPr name="Freeform 11" id="11"/>
          <p:cNvSpPr/>
          <p:nvPr/>
        </p:nvSpPr>
        <p:spPr>
          <a:xfrm flipH="false" flipV="false" rot="0">
            <a:off x="13414943" y="1243644"/>
            <a:ext cx="3844357" cy="1052393"/>
          </a:xfrm>
          <a:custGeom>
            <a:avLst/>
            <a:gdLst/>
            <a:ahLst/>
            <a:cxnLst/>
            <a:rect r="r" b="b" t="t" l="l"/>
            <a:pathLst>
              <a:path h="1052393" w="3844357">
                <a:moveTo>
                  <a:pt x="0" y="0"/>
                </a:moveTo>
                <a:lnTo>
                  <a:pt x="3844357" y="0"/>
                </a:lnTo>
                <a:lnTo>
                  <a:pt x="3844357" y="1052392"/>
                </a:lnTo>
                <a:lnTo>
                  <a:pt x="0" y="1052392"/>
                </a:lnTo>
                <a:lnTo>
                  <a:pt x="0" y="0"/>
                </a:lnTo>
                <a:close/>
              </a:path>
            </a:pathLst>
          </a:custGeom>
          <a:blipFill>
            <a:blip r:embed="rId3"/>
            <a:stretch>
              <a:fillRect l="0" t="0" r="0" b="0"/>
            </a:stretch>
          </a:blipFill>
        </p:spPr>
      </p:sp>
      <p:sp>
        <p:nvSpPr>
          <p:cNvPr name="Freeform 12" id="12"/>
          <p:cNvSpPr/>
          <p:nvPr/>
        </p:nvSpPr>
        <p:spPr>
          <a:xfrm flipH="false" flipV="false" rot="0">
            <a:off x="6337570" y="7470563"/>
            <a:ext cx="4429556" cy="2034329"/>
          </a:xfrm>
          <a:custGeom>
            <a:avLst/>
            <a:gdLst/>
            <a:ahLst/>
            <a:cxnLst/>
            <a:rect r="r" b="b" t="t" l="l"/>
            <a:pathLst>
              <a:path h="2034329" w="4429556">
                <a:moveTo>
                  <a:pt x="0" y="0"/>
                </a:moveTo>
                <a:lnTo>
                  <a:pt x="4429556" y="0"/>
                </a:lnTo>
                <a:lnTo>
                  <a:pt x="4429556" y="2034329"/>
                </a:lnTo>
                <a:lnTo>
                  <a:pt x="0" y="2034329"/>
                </a:lnTo>
                <a:lnTo>
                  <a:pt x="0" y="0"/>
                </a:lnTo>
                <a:close/>
              </a:path>
            </a:pathLst>
          </a:custGeom>
          <a:blipFill>
            <a:blip r:embed="rId4"/>
            <a:stretch>
              <a:fillRect l="-11650" t="-10103" r="-14980" b="-6735"/>
            </a:stretch>
          </a:blipFill>
        </p:spPr>
      </p:sp>
      <p:sp>
        <p:nvSpPr>
          <p:cNvPr name="Freeform 13" id="13"/>
          <p:cNvSpPr/>
          <p:nvPr/>
        </p:nvSpPr>
        <p:spPr>
          <a:xfrm flipH="false" flipV="false" rot="0">
            <a:off x="544612" y="526196"/>
            <a:ext cx="6064349" cy="2487287"/>
          </a:xfrm>
          <a:custGeom>
            <a:avLst/>
            <a:gdLst/>
            <a:ahLst/>
            <a:cxnLst/>
            <a:rect r="r" b="b" t="t" l="l"/>
            <a:pathLst>
              <a:path h="2487287" w="6064349">
                <a:moveTo>
                  <a:pt x="0" y="0"/>
                </a:moveTo>
                <a:lnTo>
                  <a:pt x="6064349" y="0"/>
                </a:lnTo>
                <a:lnTo>
                  <a:pt x="6064349" y="2487287"/>
                </a:lnTo>
                <a:lnTo>
                  <a:pt x="0" y="2487287"/>
                </a:lnTo>
                <a:lnTo>
                  <a:pt x="0" y="0"/>
                </a:lnTo>
                <a:close/>
              </a:path>
            </a:pathLst>
          </a:custGeom>
          <a:blipFill>
            <a:blip r:embed="rId5"/>
            <a:stretch>
              <a:fillRect l="0" t="-10953" r="0" b="-10953"/>
            </a:stretch>
          </a:blipFill>
        </p:spPr>
      </p:sp>
      <p:sp>
        <p:nvSpPr>
          <p:cNvPr name="Freeform 14" id="14"/>
          <p:cNvSpPr/>
          <p:nvPr/>
        </p:nvSpPr>
        <p:spPr>
          <a:xfrm flipH="false" flipV="false" rot="-278358">
            <a:off x="12662556" y="8722038"/>
            <a:ext cx="5868613" cy="1845945"/>
          </a:xfrm>
          <a:custGeom>
            <a:avLst/>
            <a:gdLst/>
            <a:ahLst/>
            <a:cxnLst/>
            <a:rect r="r" b="b" t="t" l="l"/>
            <a:pathLst>
              <a:path h="1845945" w="5868613">
                <a:moveTo>
                  <a:pt x="0" y="0"/>
                </a:moveTo>
                <a:lnTo>
                  <a:pt x="5868613" y="0"/>
                </a:lnTo>
                <a:lnTo>
                  <a:pt x="5868613" y="1845945"/>
                </a:lnTo>
                <a:lnTo>
                  <a:pt x="0" y="18459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278358">
            <a:off x="30544" y="92749"/>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148192" y="3924449"/>
            <a:ext cx="13643669" cy="1717676"/>
          </a:xfrm>
          <a:prstGeom prst="rect">
            <a:avLst/>
          </a:prstGeom>
        </p:spPr>
        <p:txBody>
          <a:bodyPr anchor="t" rtlCol="false" tIns="0" lIns="0" bIns="0" rIns="0">
            <a:spAutoFit/>
          </a:bodyPr>
          <a:lstStyle/>
          <a:p>
            <a:pPr algn="ctr">
              <a:lnSpc>
                <a:spcPts val="13999"/>
              </a:lnSpc>
              <a:spcBef>
                <a:spcPct val="0"/>
              </a:spcBef>
            </a:pPr>
            <a:r>
              <a:rPr lang="en-US" b="true" sz="9999" spc="-819">
                <a:solidFill>
                  <a:srgbClr val="003EA8"/>
                </a:solidFill>
                <a:latin typeface="Roboto Bold"/>
                <a:ea typeface="Roboto Bold"/>
                <a:cs typeface="Roboto Bold"/>
                <a:sym typeface="Roboto Bold"/>
              </a:rPr>
              <a:t>Kết quả</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46999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57125" y="3398336"/>
            <a:ext cx="9121874" cy="5585381"/>
          </a:xfrm>
          <a:custGeom>
            <a:avLst/>
            <a:gdLst/>
            <a:ahLst/>
            <a:cxnLst/>
            <a:rect r="r" b="b" t="t" l="l"/>
            <a:pathLst>
              <a:path h="5585381" w="9121874">
                <a:moveTo>
                  <a:pt x="0" y="0"/>
                </a:moveTo>
                <a:lnTo>
                  <a:pt x="9121874" y="0"/>
                </a:lnTo>
                <a:lnTo>
                  <a:pt x="9121874" y="5585381"/>
                </a:lnTo>
                <a:lnTo>
                  <a:pt x="0" y="5585381"/>
                </a:lnTo>
                <a:lnTo>
                  <a:pt x="0" y="0"/>
                </a:lnTo>
                <a:close/>
              </a:path>
            </a:pathLst>
          </a:custGeom>
          <a:blipFill>
            <a:blip r:embed="rId7"/>
            <a:stretch>
              <a:fillRect l="0" t="-5598" r="0" b="-6681"/>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Giao diện đăng nhập</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46999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895970" y="3494904"/>
            <a:ext cx="7829032" cy="5392246"/>
          </a:xfrm>
          <a:custGeom>
            <a:avLst/>
            <a:gdLst/>
            <a:ahLst/>
            <a:cxnLst/>
            <a:rect r="r" b="b" t="t" l="l"/>
            <a:pathLst>
              <a:path h="5392246" w="7829032">
                <a:moveTo>
                  <a:pt x="0" y="0"/>
                </a:moveTo>
                <a:lnTo>
                  <a:pt x="7829033" y="0"/>
                </a:lnTo>
                <a:lnTo>
                  <a:pt x="7829033" y="5392246"/>
                </a:lnTo>
                <a:lnTo>
                  <a:pt x="0" y="5392246"/>
                </a:lnTo>
                <a:lnTo>
                  <a:pt x="0" y="0"/>
                </a:lnTo>
                <a:close/>
              </a:path>
            </a:pathLst>
          </a:custGeom>
          <a:blipFill>
            <a:blip r:embed="rId7"/>
            <a:stretch>
              <a:fillRect l="0" t="0" r="0" b="0"/>
            </a:stretch>
          </a:blipFill>
        </p:spPr>
      </p:sp>
      <p:sp>
        <p:nvSpPr>
          <p:cNvPr name="Freeform 12" id="12"/>
          <p:cNvSpPr/>
          <p:nvPr/>
        </p:nvSpPr>
        <p:spPr>
          <a:xfrm flipH="false" flipV="false" rot="0">
            <a:off x="9305846" y="3494904"/>
            <a:ext cx="7723573" cy="5392246"/>
          </a:xfrm>
          <a:custGeom>
            <a:avLst/>
            <a:gdLst/>
            <a:ahLst/>
            <a:cxnLst/>
            <a:rect r="r" b="b" t="t" l="l"/>
            <a:pathLst>
              <a:path h="5392246" w="7723573">
                <a:moveTo>
                  <a:pt x="0" y="0"/>
                </a:moveTo>
                <a:lnTo>
                  <a:pt x="7723573" y="0"/>
                </a:lnTo>
                <a:lnTo>
                  <a:pt x="7723573" y="5392246"/>
                </a:lnTo>
                <a:lnTo>
                  <a:pt x="0" y="5392246"/>
                </a:lnTo>
                <a:lnTo>
                  <a:pt x="0" y="0"/>
                </a:lnTo>
                <a:close/>
              </a:path>
            </a:pathLst>
          </a:custGeom>
          <a:blipFill>
            <a:blip r:embed="rId8"/>
            <a:stretch>
              <a:fillRect l="-774" t="0" r="-774" b="0"/>
            </a:stretch>
          </a:blipFill>
        </p:spPr>
      </p:sp>
      <p:sp>
        <p:nvSpPr>
          <p:cNvPr name="TextBox 13" id="13"/>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Giao diện UI</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664109"/>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37402" y="3974566"/>
            <a:ext cx="7029594" cy="4832846"/>
          </a:xfrm>
          <a:custGeom>
            <a:avLst/>
            <a:gdLst/>
            <a:ahLst/>
            <a:cxnLst/>
            <a:rect r="r" b="b" t="t" l="l"/>
            <a:pathLst>
              <a:path h="4832846" w="7029594">
                <a:moveTo>
                  <a:pt x="0" y="0"/>
                </a:moveTo>
                <a:lnTo>
                  <a:pt x="7029594" y="0"/>
                </a:lnTo>
                <a:lnTo>
                  <a:pt x="7029594" y="4832845"/>
                </a:lnTo>
                <a:lnTo>
                  <a:pt x="0" y="4832845"/>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Sử dụng các truy vấn</a:t>
            </a:r>
          </a:p>
        </p:txBody>
      </p:sp>
      <p:sp>
        <p:nvSpPr>
          <p:cNvPr name="TextBox 13" id="13"/>
          <p:cNvSpPr txBox="true"/>
          <p:nvPr/>
        </p:nvSpPr>
        <p:spPr>
          <a:xfrm rot="0">
            <a:off x="-1224355" y="2971779"/>
            <a:ext cx="7414844"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-Lọc theo danh mục:</a:t>
            </a:r>
          </a:p>
        </p:txBody>
      </p:sp>
      <p:sp>
        <p:nvSpPr>
          <p:cNvPr name="Freeform 14" id="14"/>
          <p:cNvSpPr/>
          <p:nvPr/>
        </p:nvSpPr>
        <p:spPr>
          <a:xfrm flipH="false" flipV="false" rot="0">
            <a:off x="9394230" y="3974566"/>
            <a:ext cx="7029594" cy="4832846"/>
          </a:xfrm>
          <a:custGeom>
            <a:avLst/>
            <a:gdLst/>
            <a:ahLst/>
            <a:cxnLst/>
            <a:rect r="r" b="b" t="t" l="l"/>
            <a:pathLst>
              <a:path h="4832846" w="7029594">
                <a:moveTo>
                  <a:pt x="0" y="0"/>
                </a:moveTo>
                <a:lnTo>
                  <a:pt x="7029594" y="0"/>
                </a:lnTo>
                <a:lnTo>
                  <a:pt x="7029594" y="4832845"/>
                </a:lnTo>
                <a:lnTo>
                  <a:pt x="0" y="4832845"/>
                </a:lnTo>
                <a:lnTo>
                  <a:pt x="0" y="0"/>
                </a:lnTo>
                <a:close/>
              </a:path>
            </a:pathLst>
          </a:custGeom>
          <a:blipFill>
            <a:blip r:embed="rId8"/>
            <a:stretch>
              <a:fillRect l="0" t="0" r="0" b="0"/>
            </a:stretch>
          </a:blipFill>
        </p:spPr>
      </p:sp>
      <p:sp>
        <p:nvSpPr>
          <p:cNvPr name="TextBox 15" id="15"/>
          <p:cNvSpPr txBox="true"/>
          <p:nvPr/>
        </p:nvSpPr>
        <p:spPr>
          <a:xfrm rot="0">
            <a:off x="8411232" y="2971779"/>
            <a:ext cx="6658438"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-Lọc theo ngày tạo tăng dần: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80453" y="2692005"/>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37402" y="4076679"/>
            <a:ext cx="7147431" cy="4931727"/>
          </a:xfrm>
          <a:custGeom>
            <a:avLst/>
            <a:gdLst/>
            <a:ahLst/>
            <a:cxnLst/>
            <a:rect r="r" b="b" t="t" l="l"/>
            <a:pathLst>
              <a:path h="4931727" w="7147431">
                <a:moveTo>
                  <a:pt x="0" y="0"/>
                </a:moveTo>
                <a:lnTo>
                  <a:pt x="7147431" y="0"/>
                </a:lnTo>
                <a:lnTo>
                  <a:pt x="7147431" y="4931728"/>
                </a:lnTo>
                <a:lnTo>
                  <a:pt x="0" y="4931728"/>
                </a:lnTo>
                <a:lnTo>
                  <a:pt x="0" y="0"/>
                </a:lnTo>
                <a:close/>
              </a:path>
            </a:pathLst>
          </a:custGeom>
          <a:blipFill>
            <a:blip r:embed="rId7"/>
            <a:stretch>
              <a:fillRect l="0" t="0" r="0" b="0"/>
            </a:stretch>
          </a:blipFill>
        </p:spPr>
      </p:sp>
      <p:sp>
        <p:nvSpPr>
          <p:cNvPr name="Freeform 12" id="12"/>
          <p:cNvSpPr/>
          <p:nvPr/>
        </p:nvSpPr>
        <p:spPr>
          <a:xfrm flipH="false" flipV="false" rot="0">
            <a:off x="9461690" y="4076679"/>
            <a:ext cx="7173421" cy="4931727"/>
          </a:xfrm>
          <a:custGeom>
            <a:avLst/>
            <a:gdLst/>
            <a:ahLst/>
            <a:cxnLst/>
            <a:rect r="r" b="b" t="t" l="l"/>
            <a:pathLst>
              <a:path h="4931727" w="7173421">
                <a:moveTo>
                  <a:pt x="0" y="0"/>
                </a:moveTo>
                <a:lnTo>
                  <a:pt x="7173422" y="0"/>
                </a:lnTo>
                <a:lnTo>
                  <a:pt x="7173422" y="4931728"/>
                </a:lnTo>
                <a:lnTo>
                  <a:pt x="0" y="4931728"/>
                </a:lnTo>
                <a:lnTo>
                  <a:pt x="0" y="0"/>
                </a:lnTo>
                <a:close/>
              </a:path>
            </a:pathLst>
          </a:custGeom>
          <a:blipFill>
            <a:blip r:embed="rId8"/>
            <a:stretch>
              <a:fillRect l="0" t="0" r="0" b="0"/>
            </a:stretch>
          </a:blipFill>
        </p:spPr>
      </p:sp>
      <p:sp>
        <p:nvSpPr>
          <p:cNvPr name="TextBox 13" id="13"/>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Sử dụng các truy vấn</a:t>
            </a:r>
          </a:p>
        </p:txBody>
      </p:sp>
      <p:sp>
        <p:nvSpPr>
          <p:cNvPr name="TextBox 14" id="14"/>
          <p:cNvSpPr txBox="true"/>
          <p:nvPr/>
        </p:nvSpPr>
        <p:spPr>
          <a:xfrm rot="0">
            <a:off x="-120003" y="2970005"/>
            <a:ext cx="6007929"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-Lọc theo giá giảm dần:</a:t>
            </a:r>
          </a:p>
        </p:txBody>
      </p:sp>
      <p:sp>
        <p:nvSpPr>
          <p:cNvPr name="TextBox 15" id="15"/>
          <p:cNvSpPr txBox="true"/>
          <p:nvPr/>
        </p:nvSpPr>
        <p:spPr>
          <a:xfrm rot="0">
            <a:off x="8486873" y="3062548"/>
            <a:ext cx="7429972"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        -Kết hợp lọc theo danh mục và giá cả:</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664109"/>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039527" y="3250868"/>
            <a:ext cx="11301259" cy="6102680"/>
          </a:xfrm>
          <a:custGeom>
            <a:avLst/>
            <a:gdLst/>
            <a:ahLst/>
            <a:cxnLst/>
            <a:rect r="r" b="b" t="t" l="l"/>
            <a:pathLst>
              <a:path h="6102680" w="11301259">
                <a:moveTo>
                  <a:pt x="0" y="0"/>
                </a:moveTo>
                <a:lnTo>
                  <a:pt x="11301259" y="0"/>
                </a:lnTo>
                <a:lnTo>
                  <a:pt x="11301259" y="6102680"/>
                </a:lnTo>
                <a:lnTo>
                  <a:pt x="0" y="6102680"/>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Dữ liệu trên FireBase</a:t>
            </a:r>
          </a:p>
        </p:txBody>
      </p:sp>
      <p:sp>
        <p:nvSpPr>
          <p:cNvPr name="TextBox 13" id="13"/>
          <p:cNvSpPr txBox="true"/>
          <p:nvPr/>
        </p:nvSpPr>
        <p:spPr>
          <a:xfrm rot="0">
            <a:off x="295787" y="2645059"/>
            <a:ext cx="9080141"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-Dữ</a:t>
            </a:r>
            <a:r>
              <a:rPr lang="en-US" sz="3000">
                <a:solidFill>
                  <a:srgbClr val="000000"/>
                </a:solidFill>
                <a:latin typeface="Roboto"/>
                <a:ea typeface="Roboto"/>
                <a:cs typeface="Roboto"/>
                <a:sym typeface="Roboto"/>
              </a:rPr>
              <a:t> liệu được lưu vào mục FireStore Database:</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664109"/>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221064" y="3307375"/>
            <a:ext cx="11301259" cy="6046174"/>
          </a:xfrm>
          <a:custGeom>
            <a:avLst/>
            <a:gdLst/>
            <a:ahLst/>
            <a:cxnLst/>
            <a:rect r="r" b="b" t="t" l="l"/>
            <a:pathLst>
              <a:path h="6046174" w="11301259">
                <a:moveTo>
                  <a:pt x="0" y="0"/>
                </a:moveTo>
                <a:lnTo>
                  <a:pt x="11301259" y="0"/>
                </a:lnTo>
                <a:lnTo>
                  <a:pt x="11301259" y="6046173"/>
                </a:lnTo>
                <a:lnTo>
                  <a:pt x="0" y="6046173"/>
                </a:lnTo>
                <a:lnTo>
                  <a:pt x="0" y="0"/>
                </a:lnTo>
                <a:close/>
              </a:path>
            </a:pathLst>
          </a:custGeom>
          <a:blipFill>
            <a:blip r:embed="rId7"/>
            <a:stretch>
              <a:fillRect l="0" t="0" r="0" b="0"/>
            </a:stretch>
          </a:blipFill>
        </p:spPr>
      </p:sp>
      <p:sp>
        <p:nvSpPr>
          <p:cNvPr name="TextBox 12" id="12"/>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Dữ liệu trên FireBase</a:t>
            </a:r>
          </a:p>
        </p:txBody>
      </p:sp>
      <p:sp>
        <p:nvSpPr>
          <p:cNvPr name="TextBox 13" id="13"/>
          <p:cNvSpPr txBox="true"/>
          <p:nvPr/>
        </p:nvSpPr>
        <p:spPr>
          <a:xfrm rot="0">
            <a:off x="295787" y="2645059"/>
            <a:ext cx="12241917"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Roboto"/>
                <a:ea typeface="Roboto"/>
                <a:cs typeface="Roboto"/>
                <a:sym typeface="Roboto"/>
              </a:rPr>
              <a:t>-Những</a:t>
            </a:r>
            <a:r>
              <a:rPr lang="en-US" sz="3000">
                <a:solidFill>
                  <a:srgbClr val="000000"/>
                </a:solidFill>
                <a:latin typeface="Roboto"/>
                <a:ea typeface="Roboto"/>
                <a:cs typeface="Roboto"/>
                <a:sym typeface="Roboto"/>
              </a:rPr>
              <a:t> ai đã truy cập cũng được hiện ra ở phần Authentication: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89456" y="775442"/>
            <a:ext cx="17632435" cy="1583188"/>
            <a:chOff x="0" y="0"/>
            <a:chExt cx="6432360" cy="577551"/>
          </a:xfrm>
        </p:grpSpPr>
        <p:sp>
          <p:nvSpPr>
            <p:cNvPr name="Freeform 4" id="4"/>
            <p:cNvSpPr/>
            <p:nvPr/>
          </p:nvSpPr>
          <p:spPr>
            <a:xfrm flipH="false" flipV="false" rot="0">
              <a:off x="0" y="0"/>
              <a:ext cx="6432360" cy="577551"/>
            </a:xfrm>
            <a:custGeom>
              <a:avLst/>
              <a:gdLst/>
              <a:ahLst/>
              <a:cxnLst/>
              <a:rect r="r" b="b" t="t" l="l"/>
              <a:pathLst>
                <a:path h="577551" w="6432360">
                  <a:moveTo>
                    <a:pt x="0" y="0"/>
                  </a:moveTo>
                  <a:lnTo>
                    <a:pt x="6432360" y="0"/>
                  </a:lnTo>
                  <a:lnTo>
                    <a:pt x="6432360" y="577551"/>
                  </a:lnTo>
                  <a:lnTo>
                    <a:pt x="0" y="577551"/>
                  </a:lnTo>
                  <a:close/>
                </a:path>
              </a:pathLst>
            </a:custGeom>
            <a:solidFill>
              <a:srgbClr val="FFFFFF"/>
            </a:solidFill>
          </p:spPr>
        </p:sp>
      </p:grpSp>
      <p:sp>
        <p:nvSpPr>
          <p:cNvPr name="Freeform 5" id="5"/>
          <p:cNvSpPr/>
          <p:nvPr/>
        </p:nvSpPr>
        <p:spPr>
          <a:xfrm flipH="false" flipV="false" rot="0">
            <a:off x="13722839" y="0"/>
            <a:ext cx="4655929" cy="1650739"/>
          </a:xfrm>
          <a:custGeom>
            <a:avLst/>
            <a:gdLst/>
            <a:ahLst/>
            <a:cxnLst/>
            <a:rect r="r" b="b" t="t" l="l"/>
            <a:pathLst>
              <a:path h="1650739" w="4655929">
                <a:moveTo>
                  <a:pt x="0" y="0"/>
                </a:moveTo>
                <a:lnTo>
                  <a:pt x="4655930" y="0"/>
                </a:lnTo>
                <a:lnTo>
                  <a:pt x="4655930" y="1650739"/>
                </a:lnTo>
                <a:lnTo>
                  <a:pt x="0" y="16507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6595" y="2664109"/>
            <a:ext cx="17127093" cy="6998043"/>
            <a:chOff x="0" y="0"/>
            <a:chExt cx="6248010" cy="2552905"/>
          </a:xfrm>
        </p:grpSpPr>
        <p:sp>
          <p:nvSpPr>
            <p:cNvPr name="Freeform 7" id="7"/>
            <p:cNvSpPr/>
            <p:nvPr/>
          </p:nvSpPr>
          <p:spPr>
            <a:xfrm flipH="false" flipV="false" rot="0">
              <a:off x="0" y="0"/>
              <a:ext cx="6248010" cy="2552905"/>
            </a:xfrm>
            <a:custGeom>
              <a:avLst/>
              <a:gdLst/>
              <a:ahLst/>
              <a:cxnLst/>
              <a:rect r="r" b="b" t="t" l="l"/>
              <a:pathLst>
                <a:path h="2552905" w="6248010">
                  <a:moveTo>
                    <a:pt x="0" y="0"/>
                  </a:moveTo>
                  <a:lnTo>
                    <a:pt x="6248010" y="0"/>
                  </a:lnTo>
                  <a:lnTo>
                    <a:pt x="6248010" y="2552905"/>
                  </a:lnTo>
                  <a:lnTo>
                    <a:pt x="0" y="2552905"/>
                  </a:lnTo>
                  <a:close/>
                </a:path>
              </a:pathLst>
            </a:custGeom>
            <a:solidFill>
              <a:srgbClr val="FFFFFF"/>
            </a:solidFill>
          </p:spPr>
        </p:sp>
      </p:grpSp>
      <p:grpSp>
        <p:nvGrpSpPr>
          <p:cNvPr name="Group 8" id="8"/>
          <p:cNvGrpSpPr/>
          <p:nvPr/>
        </p:nvGrpSpPr>
        <p:grpSpPr>
          <a:xfrm rot="0">
            <a:off x="895970" y="9044945"/>
            <a:ext cx="3539104" cy="617207"/>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Freeform 10" id="10"/>
          <p:cNvSpPr/>
          <p:nvPr/>
        </p:nvSpPr>
        <p:spPr>
          <a:xfrm flipH="false" flipV="false" rot="0">
            <a:off x="295787" y="0"/>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28700" y="957436"/>
            <a:ext cx="12524320" cy="914400"/>
          </a:xfrm>
          <a:prstGeom prst="rect">
            <a:avLst/>
          </a:prstGeom>
        </p:spPr>
        <p:txBody>
          <a:bodyPr anchor="t" rtlCol="false" tIns="0" lIns="0" bIns="0" rIns="0">
            <a:spAutoFit/>
          </a:bodyPr>
          <a:lstStyle/>
          <a:p>
            <a:pPr algn="l" marL="0" indent="0" lvl="0">
              <a:lnSpc>
                <a:spcPts val="7199"/>
              </a:lnSpc>
              <a:spcBef>
                <a:spcPct val="0"/>
              </a:spcBef>
            </a:pPr>
            <a:r>
              <a:rPr lang="en-US" b="true" sz="5999">
                <a:solidFill>
                  <a:srgbClr val="003EA8"/>
                </a:solidFill>
                <a:latin typeface="Roboto Bold"/>
                <a:ea typeface="Roboto Bold"/>
                <a:cs typeface="Roboto Bold"/>
                <a:sym typeface="Roboto Bold"/>
              </a:rPr>
              <a:t>Tài liệu tham khảo:</a:t>
            </a:r>
          </a:p>
        </p:txBody>
      </p:sp>
      <p:sp>
        <p:nvSpPr>
          <p:cNvPr name="TextBox 12" id="12"/>
          <p:cNvSpPr txBox="true"/>
          <p:nvPr/>
        </p:nvSpPr>
        <p:spPr>
          <a:xfrm rot="0">
            <a:off x="1028700" y="4086680"/>
            <a:ext cx="15566679" cy="36766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Roboto"/>
                <a:ea typeface="Roboto"/>
                <a:cs typeface="Roboto"/>
                <a:sym typeface="Roboto"/>
              </a:rPr>
              <a:t>[1] Google, “Firebase Realtime Database“, Firebase Documentation, 2025.</a:t>
            </a:r>
          </a:p>
          <a:p>
            <a:pPr algn="l">
              <a:lnSpc>
                <a:spcPts val="3600"/>
              </a:lnSpc>
              <a:spcBef>
                <a:spcPct val="0"/>
              </a:spcBef>
            </a:pPr>
            <a:r>
              <a:rPr lang="en-US" sz="3000">
                <a:solidFill>
                  <a:srgbClr val="000000"/>
                </a:solidFill>
                <a:latin typeface="Roboto"/>
                <a:ea typeface="Roboto"/>
                <a:cs typeface="Roboto"/>
                <a:sym typeface="Roboto"/>
              </a:rPr>
              <a:t>[2] Google, “Cloud Sto</a:t>
            </a:r>
            <a:r>
              <a:rPr lang="en-US" sz="3000" u="none">
                <a:solidFill>
                  <a:srgbClr val="000000"/>
                </a:solidFill>
                <a:latin typeface="Roboto"/>
                <a:ea typeface="Roboto"/>
                <a:cs typeface="Roboto"/>
                <a:sym typeface="Roboto"/>
              </a:rPr>
              <a:t>rage for</a:t>
            </a:r>
            <a:r>
              <a:rPr lang="en-US" sz="3000">
                <a:solidFill>
                  <a:srgbClr val="000000"/>
                </a:solidFill>
                <a:latin typeface="Roboto"/>
                <a:ea typeface="Roboto"/>
                <a:cs typeface="Roboto"/>
                <a:sym typeface="Roboto"/>
              </a:rPr>
              <a:t> Fireb</a:t>
            </a:r>
            <a:r>
              <a:rPr lang="en-US" sz="3000" u="none">
                <a:solidFill>
                  <a:srgbClr val="000000"/>
                </a:solidFill>
                <a:latin typeface="Roboto"/>
                <a:ea typeface="Roboto"/>
                <a:cs typeface="Roboto"/>
                <a:sym typeface="Roboto"/>
              </a:rPr>
              <a:t>a</a:t>
            </a:r>
            <a:r>
              <a:rPr lang="en-US" sz="3000">
                <a:solidFill>
                  <a:srgbClr val="000000"/>
                </a:solidFill>
                <a:latin typeface="Roboto"/>
                <a:ea typeface="Roboto"/>
                <a:cs typeface="Roboto"/>
                <a:sym typeface="Roboto"/>
              </a:rPr>
              <a:t>s</a:t>
            </a:r>
            <a:r>
              <a:rPr lang="en-US" sz="3000" u="none">
                <a:solidFill>
                  <a:srgbClr val="000000"/>
                </a:solidFill>
                <a:latin typeface="Roboto"/>
                <a:ea typeface="Roboto"/>
                <a:cs typeface="Roboto"/>
                <a:sym typeface="Roboto"/>
              </a:rPr>
              <a:t>e”, Firebase Documentation, 2025.</a:t>
            </a:r>
          </a:p>
          <a:p>
            <a:pPr algn="l">
              <a:lnSpc>
                <a:spcPts val="3600"/>
              </a:lnSpc>
              <a:spcBef>
                <a:spcPct val="0"/>
              </a:spcBef>
            </a:pPr>
            <a:r>
              <a:rPr lang="en-US" sz="3000">
                <a:solidFill>
                  <a:srgbClr val="000000"/>
                </a:solidFill>
                <a:latin typeface="Roboto"/>
                <a:ea typeface="Roboto"/>
                <a:cs typeface="Roboto"/>
                <a:sym typeface="Roboto"/>
              </a:rPr>
              <a:t>[3] Pham Xuan Lu, “Dùng Firebase Storage như backend lưu trữ dữ liệu cho ứng dụng Android“, Viblo, 2016.</a:t>
            </a:r>
          </a:p>
          <a:p>
            <a:pPr algn="l">
              <a:lnSpc>
                <a:spcPts val="3600"/>
              </a:lnSpc>
              <a:spcBef>
                <a:spcPct val="0"/>
              </a:spcBef>
            </a:pPr>
            <a:r>
              <a:rPr lang="en-US" sz="3000">
                <a:solidFill>
                  <a:srgbClr val="000000"/>
                </a:solidFill>
                <a:latin typeface="Roboto"/>
                <a:ea typeface="Roboto"/>
                <a:cs typeface="Roboto"/>
                <a:sym typeface="Roboto"/>
              </a:rPr>
              <a:t>[4] G</a:t>
            </a:r>
            <a:r>
              <a:rPr lang="en-US" sz="3000">
                <a:solidFill>
                  <a:srgbClr val="000000"/>
                </a:solidFill>
                <a:latin typeface="Roboto"/>
                <a:ea typeface="Roboto"/>
                <a:cs typeface="Roboto"/>
                <a:sym typeface="Roboto"/>
              </a:rPr>
              <a:t>eeksforGeeks, “How to Use Cloud Storage For Firebase For Mobile and Web Apps?”, GeeksforGeeks, 2025.</a:t>
            </a:r>
          </a:p>
          <a:p>
            <a:pPr algn="l">
              <a:lnSpc>
                <a:spcPts val="3600"/>
              </a:lnSpc>
              <a:spcBef>
                <a:spcPct val="0"/>
              </a:spcBef>
            </a:pPr>
            <a:r>
              <a:rPr lang="en-US" sz="3000">
                <a:solidFill>
                  <a:srgbClr val="000000"/>
                </a:solidFill>
                <a:latin typeface="Roboto"/>
                <a:ea typeface="Roboto"/>
                <a:cs typeface="Roboto"/>
                <a:sym typeface="Roboto"/>
              </a:rPr>
              <a:t>[5] Nghi Can, “Cùng tìm hiểu về Firebase Cloud Firestore”, Viblo, 2017.</a:t>
            </a:r>
          </a:p>
          <a:p>
            <a:pPr algn="l">
              <a:lnSpc>
                <a:spcPts val="3600"/>
              </a:lnSpc>
              <a:spcBef>
                <a:spcPct val="0"/>
              </a:spcBef>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745850" y="667428"/>
            <a:ext cx="17050653" cy="8928532"/>
            <a:chOff x="0" y="0"/>
            <a:chExt cx="6220124" cy="3257153"/>
          </a:xfrm>
        </p:grpSpPr>
        <p:sp>
          <p:nvSpPr>
            <p:cNvPr name="Freeform 4" id="4"/>
            <p:cNvSpPr/>
            <p:nvPr/>
          </p:nvSpPr>
          <p:spPr>
            <a:xfrm flipH="false" flipV="false" rot="0">
              <a:off x="0" y="0"/>
              <a:ext cx="6220125" cy="3257153"/>
            </a:xfrm>
            <a:custGeom>
              <a:avLst/>
              <a:gdLst/>
              <a:ahLst/>
              <a:cxnLst/>
              <a:rect r="r" b="b" t="t" l="l"/>
              <a:pathLst>
                <a:path h="3257153" w="6220125">
                  <a:moveTo>
                    <a:pt x="0" y="0"/>
                  </a:moveTo>
                  <a:lnTo>
                    <a:pt x="6220125" y="0"/>
                  </a:lnTo>
                  <a:lnTo>
                    <a:pt x="6220125" y="3257153"/>
                  </a:lnTo>
                  <a:lnTo>
                    <a:pt x="0" y="3257153"/>
                  </a:lnTo>
                  <a:close/>
                </a:path>
              </a:pathLst>
            </a:custGeom>
            <a:solidFill>
              <a:srgbClr val="FFFFFF"/>
            </a:solidFill>
          </p:spPr>
        </p:sp>
      </p:grpSp>
      <p:sp>
        <p:nvSpPr>
          <p:cNvPr name="TextBox 5" id="5"/>
          <p:cNvSpPr txBox="true"/>
          <p:nvPr/>
        </p:nvSpPr>
        <p:spPr>
          <a:xfrm rot="0">
            <a:off x="3264585" y="3819613"/>
            <a:ext cx="12280743" cy="2295525"/>
          </a:xfrm>
          <a:prstGeom prst="rect">
            <a:avLst/>
          </a:prstGeom>
        </p:spPr>
        <p:txBody>
          <a:bodyPr anchor="t" rtlCol="false" tIns="0" lIns="0" bIns="0" rIns="0">
            <a:spAutoFit/>
          </a:bodyPr>
          <a:lstStyle/>
          <a:p>
            <a:pPr algn="ctr" marL="0" indent="0" lvl="0">
              <a:lnSpc>
                <a:spcPts val="18000"/>
              </a:lnSpc>
              <a:spcBef>
                <a:spcPct val="0"/>
              </a:spcBef>
            </a:pPr>
            <a:r>
              <a:rPr lang="en-US" b="true" sz="15000">
                <a:solidFill>
                  <a:srgbClr val="003EA8"/>
                </a:solidFill>
                <a:latin typeface="Roboto Bold"/>
                <a:ea typeface="Roboto Bold"/>
                <a:cs typeface="Roboto Bold"/>
                <a:sym typeface="Roboto Bold"/>
              </a:rPr>
              <a:t>Thanks You!</a:t>
            </a:r>
          </a:p>
        </p:txBody>
      </p:sp>
      <p:grpSp>
        <p:nvGrpSpPr>
          <p:cNvPr name="Group 6" id="6"/>
          <p:cNvGrpSpPr>
            <a:grpSpLocks noChangeAspect="true"/>
          </p:cNvGrpSpPr>
          <p:nvPr/>
        </p:nvGrpSpPr>
        <p:grpSpPr>
          <a:xfrm rot="0">
            <a:off x="2409379" y="7799831"/>
            <a:ext cx="529685" cy="529685"/>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3EA8"/>
            </a:solidFill>
          </p:spPr>
        </p:sp>
      </p:grpSp>
      <p:grpSp>
        <p:nvGrpSpPr>
          <p:cNvPr name="Group 8" id="8"/>
          <p:cNvGrpSpPr/>
          <p:nvPr/>
        </p:nvGrpSpPr>
        <p:grpSpPr>
          <a:xfrm rot="0">
            <a:off x="17088396" y="1777201"/>
            <a:ext cx="529685" cy="529685"/>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3EA8"/>
            </a:solidFill>
          </p:spPr>
        </p:sp>
      </p:grpSp>
      <p:sp>
        <p:nvSpPr>
          <p:cNvPr name="Freeform 10" id="10"/>
          <p:cNvSpPr/>
          <p:nvPr/>
        </p:nvSpPr>
        <p:spPr>
          <a:xfrm flipH="false" flipV="false" rot="0">
            <a:off x="12463910" y="7958580"/>
            <a:ext cx="517455" cy="741871"/>
          </a:xfrm>
          <a:custGeom>
            <a:avLst/>
            <a:gdLst/>
            <a:ahLst/>
            <a:cxnLst/>
            <a:rect r="r" b="b" t="t" l="l"/>
            <a:pathLst>
              <a:path h="741871" w="517455">
                <a:moveTo>
                  <a:pt x="0" y="0"/>
                </a:moveTo>
                <a:lnTo>
                  <a:pt x="517454" y="0"/>
                </a:lnTo>
                <a:lnTo>
                  <a:pt x="517454" y="741871"/>
                </a:lnTo>
                <a:lnTo>
                  <a:pt x="0" y="7418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4523021" y="0"/>
            <a:ext cx="3764979" cy="1334856"/>
          </a:xfrm>
          <a:custGeom>
            <a:avLst/>
            <a:gdLst/>
            <a:ahLst/>
            <a:cxnLst/>
            <a:rect r="r" b="b" t="t" l="l"/>
            <a:pathLst>
              <a:path h="1334856" w="3764979">
                <a:moveTo>
                  <a:pt x="0" y="0"/>
                </a:moveTo>
                <a:lnTo>
                  <a:pt x="3764979" y="0"/>
                </a:lnTo>
                <a:lnTo>
                  <a:pt x="3764979" y="1334856"/>
                </a:lnTo>
                <a:lnTo>
                  <a:pt x="0" y="13348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8452456" y="6315163"/>
            <a:ext cx="1637441" cy="1643417"/>
          </a:xfrm>
          <a:custGeom>
            <a:avLst/>
            <a:gdLst/>
            <a:ahLst/>
            <a:cxnLst/>
            <a:rect r="r" b="b" t="t" l="l"/>
            <a:pathLst>
              <a:path h="1643417" w="1637441">
                <a:moveTo>
                  <a:pt x="0" y="0"/>
                </a:moveTo>
                <a:lnTo>
                  <a:pt x="1637442" y="0"/>
                </a:lnTo>
                <a:lnTo>
                  <a:pt x="1637442" y="1643417"/>
                </a:lnTo>
                <a:lnTo>
                  <a:pt x="0" y="16434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3894106" y="8904921"/>
            <a:ext cx="4393894" cy="1382079"/>
          </a:xfrm>
          <a:custGeom>
            <a:avLst/>
            <a:gdLst/>
            <a:ahLst/>
            <a:cxnLst/>
            <a:rect r="r" b="b" t="t" l="l"/>
            <a:pathLst>
              <a:path h="1382079" w="4393894">
                <a:moveTo>
                  <a:pt x="0" y="0"/>
                </a:moveTo>
                <a:lnTo>
                  <a:pt x="4393894" y="0"/>
                </a:lnTo>
                <a:lnTo>
                  <a:pt x="4393894" y="1382079"/>
                </a:lnTo>
                <a:lnTo>
                  <a:pt x="0" y="13820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0" y="56945"/>
            <a:ext cx="4393894" cy="1062523"/>
          </a:xfrm>
          <a:custGeom>
            <a:avLst/>
            <a:gdLst/>
            <a:ahLst/>
            <a:cxnLst/>
            <a:rect r="r" b="b" t="t" l="l"/>
            <a:pathLst>
              <a:path h="1062523" w="4393894">
                <a:moveTo>
                  <a:pt x="0" y="0"/>
                </a:moveTo>
                <a:lnTo>
                  <a:pt x="4393894" y="0"/>
                </a:lnTo>
                <a:lnTo>
                  <a:pt x="4393894" y="1062524"/>
                </a:lnTo>
                <a:lnTo>
                  <a:pt x="0" y="10625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6171621" y="4972138"/>
            <a:ext cx="1446459" cy="1816330"/>
          </a:xfrm>
          <a:custGeom>
            <a:avLst/>
            <a:gdLst/>
            <a:ahLst/>
            <a:cxnLst/>
            <a:rect r="r" b="b" t="t" l="l"/>
            <a:pathLst>
              <a:path h="1816330" w="1446459">
                <a:moveTo>
                  <a:pt x="0" y="0"/>
                </a:moveTo>
                <a:lnTo>
                  <a:pt x="1446459" y="0"/>
                </a:lnTo>
                <a:lnTo>
                  <a:pt x="1446459" y="1816330"/>
                </a:lnTo>
                <a:lnTo>
                  <a:pt x="0" y="181633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629947" y="5983587"/>
            <a:ext cx="815322" cy="904503"/>
          </a:xfrm>
          <a:custGeom>
            <a:avLst/>
            <a:gdLst/>
            <a:ahLst/>
            <a:cxnLst/>
            <a:rect r="r" b="b" t="t" l="l"/>
            <a:pathLst>
              <a:path h="904503" w="815322">
                <a:moveTo>
                  <a:pt x="0" y="0"/>
                </a:moveTo>
                <a:lnTo>
                  <a:pt x="815322" y="0"/>
                </a:lnTo>
                <a:lnTo>
                  <a:pt x="815322" y="904503"/>
                </a:lnTo>
                <a:lnTo>
                  <a:pt x="0" y="904503"/>
                </a:lnTo>
                <a:lnTo>
                  <a:pt x="0" y="0"/>
                </a:lnTo>
                <a:close/>
              </a:path>
            </a:pathLst>
          </a:custGeom>
          <a:blipFill>
            <a:blip r:embed="rId15">
              <a:extLst>
                <a:ext uri="{96DAC541-7B7A-43D3-8B79-37D633B846F1}">
                  <asvg:svgBlip xmlns:asvg="http://schemas.microsoft.com/office/drawing/2016/SVG/main" r:embed="rId16"/>
                </a:ext>
              </a:extLst>
            </a:blip>
            <a:stretch>
              <a:fillRect l="0" t="0" r="-135582" b="0"/>
            </a:stretch>
          </a:blipFill>
        </p:spPr>
      </p:sp>
      <p:sp>
        <p:nvSpPr>
          <p:cNvPr name="Freeform 17" id="17"/>
          <p:cNvSpPr/>
          <p:nvPr/>
        </p:nvSpPr>
        <p:spPr>
          <a:xfrm flipH="false" flipV="false" rot="0">
            <a:off x="13625403" y="7903318"/>
            <a:ext cx="2455232" cy="611576"/>
          </a:xfrm>
          <a:custGeom>
            <a:avLst/>
            <a:gdLst/>
            <a:ahLst/>
            <a:cxnLst/>
            <a:rect r="r" b="b" t="t" l="l"/>
            <a:pathLst>
              <a:path h="611576" w="2455232">
                <a:moveTo>
                  <a:pt x="0" y="0"/>
                </a:moveTo>
                <a:lnTo>
                  <a:pt x="2455232" y="0"/>
                </a:lnTo>
                <a:lnTo>
                  <a:pt x="2455232" y="611576"/>
                </a:lnTo>
                <a:lnTo>
                  <a:pt x="0" y="61157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284145" y="8514894"/>
            <a:ext cx="4470273" cy="1584915"/>
          </a:xfrm>
          <a:custGeom>
            <a:avLst/>
            <a:gdLst/>
            <a:ahLst/>
            <a:cxnLst/>
            <a:rect r="r" b="b" t="t" l="l"/>
            <a:pathLst>
              <a:path h="1584915" w="4470273">
                <a:moveTo>
                  <a:pt x="0" y="0"/>
                </a:moveTo>
                <a:lnTo>
                  <a:pt x="4470272" y="0"/>
                </a:lnTo>
                <a:lnTo>
                  <a:pt x="4470272" y="1584915"/>
                </a:lnTo>
                <a:lnTo>
                  <a:pt x="0" y="15849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7595994" y="1535195"/>
            <a:ext cx="1446459" cy="1816330"/>
          </a:xfrm>
          <a:custGeom>
            <a:avLst/>
            <a:gdLst/>
            <a:ahLst/>
            <a:cxnLst/>
            <a:rect r="r" b="b" t="t" l="l"/>
            <a:pathLst>
              <a:path h="1816330" w="1446459">
                <a:moveTo>
                  <a:pt x="0" y="0"/>
                </a:moveTo>
                <a:lnTo>
                  <a:pt x="1446459" y="0"/>
                </a:lnTo>
                <a:lnTo>
                  <a:pt x="1446459" y="1816331"/>
                </a:lnTo>
                <a:lnTo>
                  <a:pt x="0" y="181633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0" id="20"/>
          <p:cNvSpPr/>
          <p:nvPr/>
        </p:nvSpPr>
        <p:spPr>
          <a:xfrm flipH="false" flipV="false" rot="0">
            <a:off x="2641075" y="5983587"/>
            <a:ext cx="1446459" cy="1816330"/>
          </a:xfrm>
          <a:custGeom>
            <a:avLst/>
            <a:gdLst/>
            <a:ahLst/>
            <a:cxnLst/>
            <a:rect r="r" b="b" t="t" l="l"/>
            <a:pathLst>
              <a:path h="1816330" w="1446459">
                <a:moveTo>
                  <a:pt x="0" y="0"/>
                </a:moveTo>
                <a:lnTo>
                  <a:pt x="1446459" y="0"/>
                </a:lnTo>
                <a:lnTo>
                  <a:pt x="1446459" y="1816330"/>
                </a:lnTo>
                <a:lnTo>
                  <a:pt x="0" y="181633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1227762" y="1535195"/>
            <a:ext cx="1446459" cy="1816330"/>
          </a:xfrm>
          <a:custGeom>
            <a:avLst/>
            <a:gdLst/>
            <a:ahLst/>
            <a:cxnLst/>
            <a:rect r="r" b="b" t="t" l="l"/>
            <a:pathLst>
              <a:path h="1816330" w="1446459">
                <a:moveTo>
                  <a:pt x="0" y="0"/>
                </a:moveTo>
                <a:lnTo>
                  <a:pt x="1446459" y="0"/>
                </a:lnTo>
                <a:lnTo>
                  <a:pt x="1446459" y="1816331"/>
                </a:lnTo>
                <a:lnTo>
                  <a:pt x="0" y="181633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13486445" y="872698"/>
            <a:ext cx="815322" cy="904503"/>
          </a:xfrm>
          <a:custGeom>
            <a:avLst/>
            <a:gdLst/>
            <a:ahLst/>
            <a:cxnLst/>
            <a:rect r="r" b="b" t="t" l="l"/>
            <a:pathLst>
              <a:path h="904503" w="815322">
                <a:moveTo>
                  <a:pt x="0" y="0"/>
                </a:moveTo>
                <a:lnTo>
                  <a:pt x="815322" y="0"/>
                </a:lnTo>
                <a:lnTo>
                  <a:pt x="815322" y="904503"/>
                </a:lnTo>
                <a:lnTo>
                  <a:pt x="0" y="904503"/>
                </a:lnTo>
                <a:lnTo>
                  <a:pt x="0" y="0"/>
                </a:lnTo>
                <a:close/>
              </a:path>
            </a:pathLst>
          </a:custGeom>
          <a:blipFill>
            <a:blip r:embed="rId15">
              <a:extLst>
                <a:ext uri="{96DAC541-7B7A-43D3-8B79-37D633B846F1}">
                  <asvg:svgBlip xmlns:asvg="http://schemas.microsoft.com/office/drawing/2016/SVG/main" r:embed="rId16"/>
                </a:ext>
              </a:extLst>
            </a:blip>
            <a:stretch>
              <a:fillRect l="0" t="0" r="-135582"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DAG4S5ZD438</dc:identifier>
  <dcterms:modified xsi:type="dcterms:W3CDTF">2011-08-01T06:04:30Z</dcterms:modified>
  <cp:revision>1</cp:revision>
  <dc:title>Xanh hải quân Trắng Đen Vẽ nguệch ngoạc Kế hoạch Kinh doanh Bản thuyết trình Kinh doanh</dc:title>
</cp:coreProperties>
</file>